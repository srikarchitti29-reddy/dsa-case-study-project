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823" r:id="rId4"/>
  </p:sldMasterIdLst>
  <p:notesMasterIdLst>
    <p:notesMasterId r:id="rId19"/>
  </p:notesMasterIdLst>
  <p:handoutMasterIdLst>
    <p:handoutMasterId r:id="rId20"/>
  </p:handoutMasterIdLst>
  <p:sldIdLst>
    <p:sldId id="264" r:id="rId5"/>
    <p:sldId id="265" r:id="rId6"/>
    <p:sldId id="266" r:id="rId7"/>
    <p:sldId id="267" r:id="rId8"/>
    <p:sldId id="268" r:id="rId9"/>
    <p:sldId id="269" r:id="rId10"/>
    <p:sldId id="270" r:id="rId11"/>
    <p:sldId id="271" r:id="rId12"/>
    <p:sldId id="272" r:id="rId13"/>
    <p:sldId id="273" r:id="rId14"/>
    <p:sldId id="276" r:id="rId15"/>
    <p:sldId id="277" r:id="rId16"/>
    <p:sldId id="274" r:id="rId17"/>
    <p:sldId id="275" r:id="rId18"/>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00" autoAdjust="0"/>
    <p:restoredTop sz="94660"/>
  </p:normalViewPr>
  <p:slideViewPr>
    <p:cSldViewPr snapToGrid="0">
      <p:cViewPr varScale="1">
        <p:scale>
          <a:sx n="89" d="100"/>
          <a:sy n="89" d="100"/>
        </p:scale>
        <p:origin x="466" y="72"/>
      </p:cViewPr>
      <p:guideLst/>
    </p:cSldViewPr>
  </p:slideViewPr>
  <p:notesTextViewPr>
    <p:cViewPr>
      <p:scale>
        <a:sx n="1" d="1"/>
        <a:sy n="1" d="1"/>
      </p:scale>
      <p:origin x="0" y="0"/>
    </p:cViewPr>
  </p:notesTextViewPr>
  <p:notesViewPr>
    <p:cSldViewPr snapToGrid="0">
      <p:cViewPr varScale="1">
        <p:scale>
          <a:sx n="60" d="100"/>
          <a:sy n="60" d="100"/>
        </p:scale>
        <p:origin x="1670" y="43"/>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3" Type="http://schemas.openxmlformats.org/officeDocument/2006/relationships/customXml" Target="../customXml/item3.xml"/><Relationship Id="rId21" Type="http://schemas.openxmlformats.org/officeDocument/2006/relationships/presProps" Target="presProp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handoutMaster" Target="handoutMasters/handoutMaster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tableStyles" Target="tableStyle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theme" Target="theme/theme1.xml"/><Relationship Id="rId10" Type="http://schemas.openxmlformats.org/officeDocument/2006/relationships/slide" Target="slides/slide6.xml"/><Relationship Id="rId19" Type="http://schemas.openxmlformats.org/officeDocument/2006/relationships/notesMaster" Target="notesMasters/notesMaster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viewProps" Target="view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399B3372-74CF-4E21-A4D4-286B22AA5A6F}"/>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063762BE-D43C-49F5-99A5-BF49C695927E}"/>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2B85766F-5EC0-4797-B4D1-777FCB005B11}" type="datetimeFigureOut">
              <a:rPr lang="en-US" smtClean="0"/>
              <a:t>6/4/2026</a:t>
            </a:fld>
            <a:endParaRPr lang="en-US" dirty="0"/>
          </a:p>
        </p:txBody>
      </p:sp>
      <p:sp>
        <p:nvSpPr>
          <p:cNvPr id="4" name="Footer Placeholder 3">
            <a:extLst>
              <a:ext uri="{FF2B5EF4-FFF2-40B4-BE49-F238E27FC236}">
                <a16:creationId xmlns:a16="http://schemas.microsoft.com/office/drawing/2014/main" id="{1989E452-9BCA-4AF5-9A9C-233BF410EAA7}"/>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36BF9F63-CE4F-44E2-A07D-7E654DE9F57B}"/>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060AC76B-F5B1-4D6E-BACD-2A80744AC929}" type="slidenum">
              <a:rPr lang="en-US" smtClean="0"/>
              <a:t>‹#›</a:t>
            </a:fld>
            <a:endParaRPr lang="en-US" dirty="0"/>
          </a:p>
        </p:txBody>
      </p:sp>
    </p:spTree>
    <p:extLst>
      <p:ext uri="{BB962C8B-B14F-4D97-AF65-F5344CB8AC3E}">
        <p14:creationId xmlns:p14="http://schemas.microsoft.com/office/powerpoint/2010/main" val="3205145249"/>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2B4B5EC-152C-4627-80C0-63B10D5574EF}" type="datetimeFigureOut">
              <a:rPr lang="en-US" smtClean="0"/>
              <a:t>6/4/2026</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1EEE60E-651F-40CC-AD73-C00F10CE42B6}" type="slidenum">
              <a:rPr lang="en-US" smtClean="0"/>
              <a:t>‹#›</a:t>
            </a:fld>
            <a:endParaRPr lang="en-US" dirty="0"/>
          </a:p>
        </p:txBody>
      </p:sp>
    </p:spTree>
    <p:extLst>
      <p:ext uri="{BB962C8B-B14F-4D97-AF65-F5344CB8AC3E}">
        <p14:creationId xmlns:p14="http://schemas.microsoft.com/office/powerpoint/2010/main" val="202541756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16" name="Group 15"/>
          <p:cNvGrpSpPr/>
          <p:nvPr/>
        </p:nvGrpSpPr>
        <p:grpSpPr>
          <a:xfrm>
            <a:off x="0" y="-8467"/>
            <a:ext cx="12192000" cy="6866467"/>
            <a:chOff x="0" y="-8467"/>
            <a:chExt cx="12192000" cy="6866467"/>
          </a:xfrm>
        </p:grpSpPr>
        <p:sp>
          <p:nvSpPr>
            <p:cNvPr id="15" name="Freeform 14"/>
            <p:cNvSpPr/>
            <p:nvPr/>
          </p:nvSpPr>
          <p:spPr>
            <a:xfrm>
              <a:off x="0" y="-7862"/>
              <a:ext cx="863600" cy="5698067"/>
            </a:xfrm>
            <a:custGeom>
              <a:avLst/>
              <a:gdLst/>
              <a:ahLst/>
              <a:cxnLst/>
              <a:rect l="l" t="t" r="r" b="b"/>
              <a:pathLst>
                <a:path w="863600" h="5698067">
                  <a:moveTo>
                    <a:pt x="0" y="8467"/>
                  </a:moveTo>
                  <a:lnTo>
                    <a:pt x="863600" y="0"/>
                  </a:lnTo>
                  <a:lnTo>
                    <a:pt x="863600" y="16934"/>
                  </a:lnTo>
                  <a:lnTo>
                    <a:pt x="0" y="5698067"/>
                  </a:lnTo>
                  <a:lnTo>
                    <a:pt x="0" y="8467"/>
                  </a:lnTo>
                  <a:close/>
                </a:path>
              </a:pathLst>
            </a:cu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sp>
        <p:cxnSp>
          <p:nvCxnSpPr>
            <p:cNvPr id="19" name="Straight Connector 18"/>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1"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2"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Isosceles Triangle 22"/>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smtClean="0"/>
              <a:t>6/4/2026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184595720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smtClean="0"/>
              <a:t>6/4/2026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174795634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48A87A34-81AB-432B-8DAE-1953F412C126}" type="datetimeFigureOut">
              <a:rPr lang="en-US" smtClean="0"/>
              <a:t>6/4/2026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154817042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48A87A34-81AB-432B-8DAE-1953F412C126}" type="datetimeFigureOut">
              <a:rPr lang="en-US" smtClean="0"/>
              <a:t>6/4/2026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172521424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48A87A34-81AB-432B-8DAE-1953F412C126}" type="datetimeFigureOut">
              <a:rPr lang="en-US" smtClean="0"/>
              <a:t>6/4/2026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326087513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48A87A34-81AB-432B-8DAE-1953F412C126}" type="datetimeFigureOut">
              <a:rPr lang="en-US" smtClean="0"/>
              <a:t>6/4/2026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134167407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8A87A34-81AB-432B-8DAE-1953F412C126}" type="datetimeFigureOut">
              <a:rPr lang="en-US" smtClean="0"/>
              <a:t>6/4/2026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144640510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n-US"/>
              <a:t>Click to edit Master title style</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8A87A34-81AB-432B-8DAE-1953F412C126}" type="datetimeFigureOut">
              <a:rPr lang="en-US" smtClean="0"/>
              <a:t>6/4/2026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196695264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smtClean="0"/>
              <a:t>‹#›</a:t>
            </a:fld>
            <a:endParaRPr lang="en-US" dirty="0"/>
          </a:p>
        </p:txBody>
      </p:sp>
      <p:sp>
        <p:nvSpPr>
          <p:cNvPr id="5" name="Date Placeholder 4"/>
          <p:cNvSpPr>
            <a:spLocks noGrp="1"/>
          </p:cNvSpPr>
          <p:nvPr>
            <p:ph type="dt" sz="half" idx="10"/>
          </p:nvPr>
        </p:nvSpPr>
        <p:spPr/>
        <p:txBody>
          <a:bodyPr/>
          <a:lstStyle/>
          <a:p>
            <a:fld id="{48A87A34-81AB-432B-8DAE-1953F412C126}" type="datetimeFigureOut">
              <a:rPr lang="en-US" smtClean="0"/>
              <a:t>6/4/2026</a:t>
            </a:fld>
            <a:endParaRPr lang="en-US" dirty="0"/>
          </a:p>
        </p:txBody>
      </p:sp>
    </p:spTree>
    <p:extLst>
      <p:ext uri="{BB962C8B-B14F-4D97-AF65-F5344CB8AC3E}">
        <p14:creationId xmlns:p14="http://schemas.microsoft.com/office/powerpoint/2010/main" val="313236277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48A87A34-81AB-432B-8DAE-1953F412C126}" type="datetimeFigureOut">
              <a:rPr lang="en-US" smtClean="0"/>
              <a:pPr/>
              <a:t>6/4/2026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smtClean="0"/>
              <a:pPr/>
              <a:t>‹#›</a:t>
            </a:fld>
            <a:endParaRPr lang="en-US" dirty="0"/>
          </a:p>
        </p:txBody>
      </p:sp>
    </p:spTree>
    <p:extLst>
      <p:ext uri="{BB962C8B-B14F-4D97-AF65-F5344CB8AC3E}">
        <p14:creationId xmlns:p14="http://schemas.microsoft.com/office/powerpoint/2010/main" val="631136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48A87A34-81AB-432B-8DAE-1953F412C126}" type="datetimeFigureOut">
              <a:rPr lang="en-US" smtClean="0"/>
              <a:pPr/>
              <a:t>6/4/2026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smtClean="0"/>
              <a:pPr/>
              <a:t>‹#›</a:t>
            </a:fld>
            <a:endParaRPr lang="en-US"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125775743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48A87A34-81AB-432B-8DAE-1953F412C126}" type="datetimeFigureOut">
              <a:rPr lang="en-US" smtClean="0"/>
              <a:pPr/>
              <a:t>6/4/2026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smtClean="0"/>
              <a:pPr/>
              <a:t>‹#›</a:t>
            </a:fld>
            <a:endParaRPr lang="en-US" dirty="0"/>
          </a:p>
        </p:txBody>
      </p:sp>
    </p:spTree>
    <p:extLst>
      <p:ext uri="{BB962C8B-B14F-4D97-AF65-F5344CB8AC3E}">
        <p14:creationId xmlns:p14="http://schemas.microsoft.com/office/powerpoint/2010/main" val="1810576267"/>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48A87A34-81AB-432B-8DAE-1953F412C126}" type="datetimeFigureOut">
              <a:rPr lang="en-US" smtClean="0"/>
              <a:pPr/>
              <a:t>6/4/2026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smtClean="0"/>
              <a:pPr/>
              <a:t>‹#›</a:t>
            </a:fld>
            <a:endParaRPr lang="en-US"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138404330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48A87A34-81AB-432B-8DAE-1953F412C126}" type="datetimeFigureOut">
              <a:rPr lang="en-US" smtClean="0"/>
              <a:pPr/>
              <a:t>6/4/2026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smtClean="0"/>
              <a:pPr/>
              <a:t>‹#›</a:t>
            </a:fld>
            <a:endParaRPr lang="en-US" dirty="0"/>
          </a:p>
        </p:txBody>
      </p:sp>
    </p:spTree>
    <p:extLst>
      <p:ext uri="{BB962C8B-B14F-4D97-AF65-F5344CB8AC3E}">
        <p14:creationId xmlns:p14="http://schemas.microsoft.com/office/powerpoint/2010/main" val="1557359974"/>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smtClean="0"/>
              <a:t>6/4/2026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126291390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smtClean="0"/>
              <a:t>6/4/2026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253929531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44" name="Group 43"/>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Isosceles Triangle 23"/>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7"/>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a:xfrm>
              <a:off x="0" y="4013200"/>
              <a:ext cx="448733" cy="2844800"/>
            </a:xfrm>
            <a:prstGeom prst="triangle">
              <a:avLst>
                <a:gd name="adj" fmla="val 0"/>
              </a:avLst>
            </a:pr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48A87A34-81AB-432B-8DAE-1953F412C126}" type="datetimeFigureOut">
              <a:rPr lang="en-US" smtClean="0"/>
              <a:pPr/>
              <a:t>6/4/2026</a:t>
            </a:fld>
            <a:endParaRPr lang="en-US" dirty="0"/>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6D22F896-40B5-4ADD-8801-0D06FADFA095}" type="slidenum">
              <a:rPr lang="en-US" smtClean="0"/>
              <a:pPr/>
              <a:t>‹#›</a:t>
            </a:fld>
            <a:endParaRPr lang="en-US" dirty="0"/>
          </a:p>
        </p:txBody>
      </p:sp>
    </p:spTree>
    <p:extLst>
      <p:ext uri="{BB962C8B-B14F-4D97-AF65-F5344CB8AC3E}">
        <p14:creationId xmlns:p14="http://schemas.microsoft.com/office/powerpoint/2010/main" val="457408239"/>
      </p:ext>
    </p:extLst>
  </p:cSld>
  <p:clrMap bg1="lt1" tx1="dk1" bg2="lt2" tx2="dk2" accent1="accent1" accent2="accent2" accent3="accent3" accent4="accent4" accent5="accent5" accent6="accent6" hlink="hlink" folHlink="folHlink"/>
  <p:sldLayoutIdLst>
    <p:sldLayoutId id="2147483824" r:id="rId1"/>
    <p:sldLayoutId id="2147483825" r:id="rId2"/>
    <p:sldLayoutId id="2147483826" r:id="rId3"/>
    <p:sldLayoutId id="2147483827" r:id="rId4"/>
    <p:sldLayoutId id="2147483828" r:id="rId5"/>
    <p:sldLayoutId id="2147483829" r:id="rId6"/>
    <p:sldLayoutId id="2147483830" r:id="rId7"/>
    <p:sldLayoutId id="2147483831" r:id="rId8"/>
    <p:sldLayoutId id="2147483832" r:id="rId9"/>
    <p:sldLayoutId id="2147483833" r:id="rId10"/>
    <p:sldLayoutId id="2147483834" r:id="rId11"/>
    <p:sldLayoutId id="2147483835" r:id="rId12"/>
    <p:sldLayoutId id="2147483836" r:id="rId13"/>
    <p:sldLayoutId id="2147483837" r:id="rId14"/>
    <p:sldLayoutId id="2147483838" r:id="rId15"/>
    <p:sldLayoutId id="2147483839" r:id="rId16"/>
  </p:sldLayoutIdLst>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52E9751A-4EBD-EC2C-D053-001D5CED40E2}"/>
              </a:ext>
            </a:extLst>
          </p:cNvPr>
          <p:cNvSpPr txBox="1"/>
          <p:nvPr/>
        </p:nvSpPr>
        <p:spPr>
          <a:xfrm>
            <a:off x="3346938" y="2274249"/>
            <a:ext cx="8698524" cy="1754326"/>
          </a:xfrm>
          <a:prstGeom prst="rect">
            <a:avLst/>
          </a:prstGeom>
          <a:noFill/>
        </p:spPr>
        <p:txBody>
          <a:bodyPr wrap="square" rtlCol="0">
            <a:spAutoFit/>
          </a:bodyPr>
          <a:lstStyle/>
          <a:p>
            <a:r>
              <a:rPr lang="en-IN" sz="3600" dirty="0">
                <a:latin typeface="Times New Roman" panose="02020603050405020304" pitchFamily="18" charset="0"/>
                <a:cs typeface="Times New Roman" panose="02020603050405020304" pitchFamily="18" charset="0"/>
              </a:rPr>
              <a:t>E-COMMERCE CUSTOMER BEHAVIOR ANALYSIS USING DATA SCIENCE TECHNIQUES</a:t>
            </a:r>
          </a:p>
        </p:txBody>
      </p:sp>
      <p:sp>
        <p:nvSpPr>
          <p:cNvPr id="3" name="TextBox 2">
            <a:extLst>
              <a:ext uri="{FF2B5EF4-FFF2-40B4-BE49-F238E27FC236}">
                <a16:creationId xmlns:a16="http://schemas.microsoft.com/office/drawing/2014/main" id="{BA51E414-EDDB-060C-5559-CF51387926B6}"/>
              </a:ext>
            </a:extLst>
          </p:cNvPr>
          <p:cNvSpPr txBox="1"/>
          <p:nvPr/>
        </p:nvSpPr>
        <p:spPr>
          <a:xfrm>
            <a:off x="1394605" y="4095077"/>
            <a:ext cx="6568440" cy="1938992"/>
          </a:xfrm>
          <a:prstGeom prst="rect">
            <a:avLst/>
          </a:prstGeom>
          <a:noFill/>
        </p:spPr>
        <p:txBody>
          <a:bodyPr wrap="square" rtlCol="0">
            <a:spAutoFit/>
          </a:bodyPr>
          <a:lstStyle/>
          <a:p>
            <a:r>
              <a:rPr lang="en-IN" sz="2400" dirty="0">
                <a:latin typeface="Times New Roman" panose="02020603050405020304" pitchFamily="18" charset="0"/>
                <a:cs typeface="Times New Roman" panose="02020603050405020304" pitchFamily="18" charset="0"/>
              </a:rPr>
              <a:t>JANGIRALA RAKSHITHA- 2520090212</a:t>
            </a:r>
          </a:p>
          <a:p>
            <a:r>
              <a:rPr lang="en-IN" sz="2400" dirty="0">
                <a:latin typeface="Times New Roman" panose="02020603050405020304" pitchFamily="18" charset="0"/>
                <a:cs typeface="Times New Roman" panose="02020603050405020304" pitchFamily="18" charset="0"/>
              </a:rPr>
              <a:t>PENMATSA GOWTHAM VARMA-2520090202</a:t>
            </a:r>
          </a:p>
          <a:p>
            <a:r>
              <a:rPr lang="en-IN" sz="2400" dirty="0">
                <a:latin typeface="Times New Roman" panose="02020603050405020304" pitchFamily="18" charset="0"/>
                <a:cs typeface="Times New Roman" panose="02020603050405020304" pitchFamily="18" charset="0"/>
              </a:rPr>
              <a:t>POTLABTHINI SHASHANTH-2520090211</a:t>
            </a:r>
            <a:br>
              <a:rPr lang="en-IN" sz="2400" dirty="0">
                <a:latin typeface="Times New Roman" panose="02020603050405020304" pitchFamily="18" charset="0"/>
                <a:cs typeface="Times New Roman" panose="02020603050405020304" pitchFamily="18" charset="0"/>
              </a:rPr>
            </a:br>
            <a:r>
              <a:rPr lang="en-IN" sz="2400" dirty="0">
                <a:latin typeface="Times New Roman" panose="02020603050405020304" pitchFamily="18" charset="0"/>
                <a:cs typeface="Times New Roman" panose="02020603050405020304" pitchFamily="18" charset="0"/>
              </a:rPr>
              <a:t>SECTION - 03</a:t>
            </a:r>
          </a:p>
          <a:p>
            <a:r>
              <a:rPr lang="en-IN" sz="2400" dirty="0">
                <a:latin typeface="Times New Roman" panose="02020603050405020304" pitchFamily="18" charset="0"/>
                <a:cs typeface="Times New Roman" panose="02020603050405020304" pitchFamily="18" charset="0"/>
              </a:rPr>
              <a:t>LECTURER : </a:t>
            </a:r>
            <a:r>
              <a:rPr lang="en-IN" sz="2400" dirty="0" err="1">
                <a:latin typeface="Times New Roman" panose="02020603050405020304" pitchFamily="18" charset="0"/>
                <a:cs typeface="Times New Roman" panose="02020603050405020304" pitchFamily="18" charset="0"/>
              </a:rPr>
              <a:t>Dr.B.TULASI</a:t>
            </a:r>
            <a:r>
              <a:rPr lang="en-IN" sz="2400" dirty="0">
                <a:latin typeface="Times New Roman" panose="02020603050405020304" pitchFamily="18" charset="0"/>
                <a:cs typeface="Times New Roman" panose="02020603050405020304" pitchFamily="18" charset="0"/>
              </a:rPr>
              <a:t> LAKSHMI</a:t>
            </a:r>
            <a:endParaRPr lang="en-IN" sz="2400" dirty="0"/>
          </a:p>
        </p:txBody>
      </p:sp>
      <p:sp>
        <p:nvSpPr>
          <p:cNvPr id="4" name="TextBox 3">
            <a:extLst>
              <a:ext uri="{FF2B5EF4-FFF2-40B4-BE49-F238E27FC236}">
                <a16:creationId xmlns:a16="http://schemas.microsoft.com/office/drawing/2014/main" id="{5BEC8E26-89C4-AA0A-B437-B71836B151A7}"/>
              </a:ext>
            </a:extLst>
          </p:cNvPr>
          <p:cNvSpPr txBox="1"/>
          <p:nvPr/>
        </p:nvSpPr>
        <p:spPr>
          <a:xfrm>
            <a:off x="567396" y="2306206"/>
            <a:ext cx="2916702" cy="523220"/>
          </a:xfrm>
          <a:prstGeom prst="rect">
            <a:avLst/>
          </a:prstGeom>
          <a:noFill/>
        </p:spPr>
        <p:txBody>
          <a:bodyPr wrap="square" rtlCol="0">
            <a:spAutoFit/>
          </a:bodyPr>
          <a:lstStyle/>
          <a:p>
            <a:r>
              <a:rPr lang="en-IN" sz="2800" dirty="0">
                <a:latin typeface="Times New Roman" panose="02020603050405020304" pitchFamily="18" charset="0"/>
                <a:cs typeface="Times New Roman" panose="02020603050405020304" pitchFamily="18" charset="0"/>
              </a:rPr>
              <a:t>PROJECT TITLE: </a:t>
            </a:r>
          </a:p>
        </p:txBody>
      </p:sp>
      <p:sp>
        <p:nvSpPr>
          <p:cNvPr id="6" name="TextBox 5">
            <a:extLst>
              <a:ext uri="{FF2B5EF4-FFF2-40B4-BE49-F238E27FC236}">
                <a16:creationId xmlns:a16="http://schemas.microsoft.com/office/drawing/2014/main" id="{8B9A0F26-FB5D-A7E6-CF48-63979501F246}"/>
              </a:ext>
            </a:extLst>
          </p:cNvPr>
          <p:cNvSpPr txBox="1"/>
          <p:nvPr/>
        </p:nvSpPr>
        <p:spPr>
          <a:xfrm>
            <a:off x="969498" y="1473441"/>
            <a:ext cx="11222502" cy="523220"/>
          </a:xfrm>
          <a:prstGeom prst="rect">
            <a:avLst/>
          </a:prstGeom>
          <a:noFill/>
        </p:spPr>
        <p:txBody>
          <a:bodyPr wrap="square" rtlCol="0">
            <a:spAutoFit/>
          </a:bodyPr>
          <a:lstStyle/>
          <a:p>
            <a:r>
              <a:rPr lang="en-IN" sz="2800" dirty="0">
                <a:latin typeface="Times New Roman" panose="02020603050405020304" pitchFamily="18" charset="0"/>
                <a:cs typeface="Times New Roman" panose="02020603050405020304" pitchFamily="18" charset="0"/>
              </a:rPr>
              <a:t>MATHEMATICS FOR DATA SCIENCE AND ANALYTICS (MDSA)</a:t>
            </a:r>
          </a:p>
        </p:txBody>
      </p:sp>
      <p:sp>
        <p:nvSpPr>
          <p:cNvPr id="7" name="TextBox 6">
            <a:extLst>
              <a:ext uri="{FF2B5EF4-FFF2-40B4-BE49-F238E27FC236}">
                <a16:creationId xmlns:a16="http://schemas.microsoft.com/office/drawing/2014/main" id="{2E553288-C464-CFEE-8CCA-33EE0D4D4765}"/>
              </a:ext>
            </a:extLst>
          </p:cNvPr>
          <p:cNvSpPr txBox="1"/>
          <p:nvPr/>
        </p:nvSpPr>
        <p:spPr>
          <a:xfrm>
            <a:off x="4284198" y="609890"/>
            <a:ext cx="4593102" cy="769441"/>
          </a:xfrm>
          <a:prstGeom prst="rect">
            <a:avLst/>
          </a:prstGeom>
          <a:noFill/>
        </p:spPr>
        <p:txBody>
          <a:bodyPr wrap="square" rtlCol="0">
            <a:spAutoFit/>
          </a:bodyPr>
          <a:lstStyle/>
          <a:p>
            <a:r>
              <a:rPr lang="en-IN" sz="4400" dirty="0">
                <a:latin typeface="Times New Roman" panose="02020603050405020304" pitchFamily="18" charset="0"/>
                <a:cs typeface="Times New Roman" panose="02020603050405020304" pitchFamily="18" charset="0"/>
              </a:rPr>
              <a:t>25MT1306E</a:t>
            </a:r>
          </a:p>
        </p:txBody>
      </p:sp>
    </p:spTree>
    <p:extLst>
      <p:ext uri="{BB962C8B-B14F-4D97-AF65-F5344CB8AC3E}">
        <p14:creationId xmlns:p14="http://schemas.microsoft.com/office/powerpoint/2010/main" val="348265266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97675554-0B00-40ED-54BA-56F1CA5B578E}"/>
              </a:ext>
            </a:extLst>
          </p:cNvPr>
          <p:cNvSpPr txBox="1"/>
          <p:nvPr/>
        </p:nvSpPr>
        <p:spPr>
          <a:xfrm>
            <a:off x="1248816" y="99013"/>
            <a:ext cx="7713784" cy="923330"/>
          </a:xfrm>
          <a:prstGeom prst="rect">
            <a:avLst/>
          </a:prstGeom>
          <a:noFill/>
        </p:spPr>
        <p:txBody>
          <a:bodyPr wrap="square" rtlCol="0">
            <a:spAutoFit/>
          </a:bodyPr>
          <a:lstStyle/>
          <a:p>
            <a:r>
              <a:rPr lang="en-IN" sz="5400" dirty="0">
                <a:latin typeface="Times New Roman" panose="02020603050405020304" pitchFamily="18" charset="0"/>
                <a:cs typeface="Times New Roman" panose="02020603050405020304" pitchFamily="18" charset="0"/>
              </a:rPr>
              <a:t>Table Of Contents </a:t>
            </a:r>
          </a:p>
        </p:txBody>
      </p:sp>
      <p:sp>
        <p:nvSpPr>
          <p:cNvPr id="3" name="TextBox 2">
            <a:extLst>
              <a:ext uri="{FF2B5EF4-FFF2-40B4-BE49-F238E27FC236}">
                <a16:creationId xmlns:a16="http://schemas.microsoft.com/office/drawing/2014/main" id="{CE15E49F-BA0C-5C3E-4B9E-C1871FF86F46}"/>
              </a:ext>
            </a:extLst>
          </p:cNvPr>
          <p:cNvSpPr txBox="1"/>
          <p:nvPr/>
        </p:nvSpPr>
        <p:spPr>
          <a:xfrm>
            <a:off x="1131587" y="1205918"/>
            <a:ext cx="1387024" cy="5262979"/>
          </a:xfrm>
          <a:prstGeom prst="rect">
            <a:avLst/>
          </a:prstGeom>
          <a:noFill/>
        </p:spPr>
        <p:txBody>
          <a:bodyPr wrap="square" rtlCol="0">
            <a:spAutoFit/>
          </a:bodyPr>
          <a:lstStyle/>
          <a:p>
            <a:r>
              <a:rPr lang="en-IN" sz="4800" dirty="0">
                <a:latin typeface="Times New Roman" panose="02020603050405020304" pitchFamily="18" charset="0"/>
                <a:cs typeface="Times New Roman" panose="02020603050405020304" pitchFamily="18" charset="0"/>
              </a:rPr>
              <a:t>01</a:t>
            </a:r>
          </a:p>
          <a:p>
            <a:endParaRPr lang="en-IN" sz="4800" dirty="0">
              <a:latin typeface="Times New Roman" panose="02020603050405020304" pitchFamily="18" charset="0"/>
              <a:cs typeface="Times New Roman" panose="02020603050405020304" pitchFamily="18" charset="0"/>
            </a:endParaRPr>
          </a:p>
          <a:p>
            <a:r>
              <a:rPr lang="en-IN" sz="4800" dirty="0">
                <a:latin typeface="Times New Roman" panose="02020603050405020304" pitchFamily="18" charset="0"/>
                <a:cs typeface="Times New Roman" panose="02020603050405020304" pitchFamily="18" charset="0"/>
              </a:rPr>
              <a:t>02</a:t>
            </a:r>
          </a:p>
          <a:p>
            <a:r>
              <a:rPr lang="en-IN" sz="4800" dirty="0">
                <a:latin typeface="Times New Roman" panose="02020603050405020304" pitchFamily="18" charset="0"/>
                <a:cs typeface="Times New Roman" panose="02020603050405020304" pitchFamily="18" charset="0"/>
              </a:rPr>
              <a:t>    </a:t>
            </a:r>
          </a:p>
          <a:p>
            <a:r>
              <a:rPr lang="en-IN" sz="4800" dirty="0">
                <a:latin typeface="Times New Roman" panose="02020603050405020304" pitchFamily="18" charset="0"/>
                <a:cs typeface="Times New Roman" panose="02020603050405020304" pitchFamily="18" charset="0"/>
              </a:rPr>
              <a:t>03</a:t>
            </a:r>
          </a:p>
          <a:p>
            <a:endParaRPr lang="en-IN" sz="4800" dirty="0">
              <a:latin typeface="Times New Roman" panose="02020603050405020304" pitchFamily="18" charset="0"/>
              <a:cs typeface="Times New Roman" panose="02020603050405020304" pitchFamily="18" charset="0"/>
            </a:endParaRPr>
          </a:p>
          <a:p>
            <a:r>
              <a:rPr lang="en-IN" sz="4800" dirty="0">
                <a:latin typeface="Times New Roman" panose="02020603050405020304" pitchFamily="18" charset="0"/>
                <a:cs typeface="Times New Roman" panose="02020603050405020304" pitchFamily="18" charset="0"/>
              </a:rPr>
              <a:t>04</a:t>
            </a:r>
          </a:p>
        </p:txBody>
      </p:sp>
      <p:sp>
        <p:nvSpPr>
          <p:cNvPr id="4" name="TextBox 3">
            <a:extLst>
              <a:ext uri="{FF2B5EF4-FFF2-40B4-BE49-F238E27FC236}">
                <a16:creationId xmlns:a16="http://schemas.microsoft.com/office/drawing/2014/main" id="{7A805359-57EC-DCC5-7B68-BC746FAF9054}"/>
              </a:ext>
            </a:extLst>
          </p:cNvPr>
          <p:cNvSpPr txBox="1"/>
          <p:nvPr/>
        </p:nvSpPr>
        <p:spPr>
          <a:xfrm>
            <a:off x="2518611" y="1366340"/>
            <a:ext cx="8373979" cy="5016758"/>
          </a:xfrm>
          <a:prstGeom prst="rect">
            <a:avLst/>
          </a:prstGeom>
          <a:noFill/>
        </p:spPr>
        <p:txBody>
          <a:bodyPr wrap="square" rtlCol="0">
            <a:spAutoFit/>
          </a:bodyPr>
          <a:lstStyle/>
          <a:p>
            <a:r>
              <a:rPr lang="en-IN" sz="3200" dirty="0">
                <a:latin typeface="Times New Roman" panose="02020603050405020304" pitchFamily="18" charset="0"/>
                <a:cs typeface="Times New Roman" panose="02020603050405020304" pitchFamily="18" charset="0"/>
              </a:rPr>
              <a:t>Introduction</a:t>
            </a:r>
          </a:p>
          <a:p>
            <a:pPr marL="342900" indent="-342900">
              <a:buAutoNum type="arabicPlain"/>
            </a:pPr>
            <a:endParaRPr lang="en-IN" sz="3200" dirty="0">
              <a:latin typeface="Times New Roman" panose="02020603050405020304" pitchFamily="18" charset="0"/>
              <a:cs typeface="Times New Roman" panose="02020603050405020304" pitchFamily="18" charset="0"/>
            </a:endParaRPr>
          </a:p>
          <a:p>
            <a:endParaRPr lang="en-IN" sz="3200" dirty="0">
              <a:latin typeface="Times New Roman" panose="02020603050405020304" pitchFamily="18" charset="0"/>
              <a:cs typeface="Times New Roman" panose="02020603050405020304" pitchFamily="18" charset="0"/>
            </a:endParaRPr>
          </a:p>
          <a:p>
            <a:r>
              <a:rPr lang="en-IN" sz="3200" dirty="0">
                <a:latin typeface="Times New Roman" panose="02020603050405020304" pitchFamily="18" charset="0"/>
                <a:cs typeface="Times New Roman" panose="02020603050405020304" pitchFamily="18" charset="0"/>
              </a:rPr>
              <a:t>CO Mapping For The Project</a:t>
            </a:r>
          </a:p>
          <a:p>
            <a:endParaRPr lang="en-IN" sz="3200" dirty="0">
              <a:latin typeface="Times New Roman" panose="02020603050405020304" pitchFamily="18" charset="0"/>
              <a:cs typeface="Times New Roman" panose="02020603050405020304" pitchFamily="18" charset="0"/>
            </a:endParaRPr>
          </a:p>
          <a:p>
            <a:endParaRPr lang="en-IN" sz="3200" dirty="0">
              <a:latin typeface="Times New Roman" panose="02020603050405020304" pitchFamily="18" charset="0"/>
              <a:cs typeface="Times New Roman" panose="02020603050405020304" pitchFamily="18" charset="0"/>
            </a:endParaRPr>
          </a:p>
          <a:p>
            <a:r>
              <a:rPr lang="en-IN" sz="3200" dirty="0">
                <a:latin typeface="Times New Roman" panose="02020603050405020304" pitchFamily="18" charset="0"/>
                <a:cs typeface="Times New Roman" panose="02020603050405020304" pitchFamily="18" charset="0"/>
              </a:rPr>
              <a:t>Dataset Description &amp; Python Implementation</a:t>
            </a:r>
          </a:p>
          <a:p>
            <a:endParaRPr lang="en-IN" sz="3200" dirty="0">
              <a:latin typeface="Times New Roman" panose="02020603050405020304" pitchFamily="18" charset="0"/>
              <a:cs typeface="Times New Roman" panose="02020603050405020304" pitchFamily="18" charset="0"/>
            </a:endParaRPr>
          </a:p>
          <a:p>
            <a:endParaRPr lang="en-IN" sz="3200" dirty="0">
              <a:latin typeface="Times New Roman" panose="02020603050405020304" pitchFamily="18" charset="0"/>
              <a:cs typeface="Times New Roman" panose="02020603050405020304" pitchFamily="18" charset="0"/>
            </a:endParaRPr>
          </a:p>
          <a:p>
            <a:r>
              <a:rPr lang="en-IN" sz="3200" dirty="0">
                <a:latin typeface="Times New Roman" panose="02020603050405020304" pitchFamily="18" charset="0"/>
                <a:cs typeface="Times New Roman" panose="02020603050405020304" pitchFamily="18" charset="0"/>
              </a:rPr>
              <a:t>Conclusion &amp; Future Scope</a:t>
            </a:r>
          </a:p>
        </p:txBody>
      </p:sp>
    </p:spTree>
    <p:extLst>
      <p:ext uri="{BB962C8B-B14F-4D97-AF65-F5344CB8AC3E}">
        <p14:creationId xmlns:p14="http://schemas.microsoft.com/office/powerpoint/2010/main" val="59750881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C7704AFE-FB6C-3809-3DF3-B5E6FA2E305D}"/>
              </a:ext>
            </a:extLst>
          </p:cNvPr>
          <p:cNvSpPr txBox="1"/>
          <p:nvPr/>
        </p:nvSpPr>
        <p:spPr>
          <a:xfrm>
            <a:off x="1106905" y="325298"/>
            <a:ext cx="8165432" cy="646331"/>
          </a:xfrm>
          <a:prstGeom prst="rect">
            <a:avLst/>
          </a:prstGeom>
          <a:noFill/>
        </p:spPr>
        <p:txBody>
          <a:bodyPr wrap="square" rtlCol="0">
            <a:spAutoFit/>
          </a:bodyPr>
          <a:lstStyle/>
          <a:p>
            <a:r>
              <a:rPr lang="en-IN" sz="3600" dirty="0">
                <a:latin typeface="Times New Roman" panose="02020603050405020304" pitchFamily="18" charset="0"/>
                <a:cs typeface="Times New Roman" panose="02020603050405020304" pitchFamily="18" charset="0"/>
              </a:rPr>
              <a:t>INTODUCTION</a:t>
            </a:r>
          </a:p>
        </p:txBody>
      </p:sp>
      <p:sp>
        <p:nvSpPr>
          <p:cNvPr id="3" name="TextBox 2">
            <a:extLst>
              <a:ext uri="{FF2B5EF4-FFF2-40B4-BE49-F238E27FC236}">
                <a16:creationId xmlns:a16="http://schemas.microsoft.com/office/drawing/2014/main" id="{3086D08C-62B8-5BDD-B26A-ED22575A0286}"/>
              </a:ext>
            </a:extLst>
          </p:cNvPr>
          <p:cNvSpPr txBox="1"/>
          <p:nvPr/>
        </p:nvSpPr>
        <p:spPr>
          <a:xfrm>
            <a:off x="1106905" y="1109068"/>
            <a:ext cx="10876548" cy="5693866"/>
          </a:xfrm>
          <a:prstGeom prst="rect">
            <a:avLst/>
          </a:prstGeom>
          <a:noFill/>
        </p:spPr>
        <p:txBody>
          <a:bodyPr wrap="square" rtlCol="0">
            <a:spAutoFit/>
          </a:bodyPr>
          <a:lstStyle/>
          <a:p>
            <a:r>
              <a:rPr lang="en-IN" sz="2800" dirty="0">
                <a:latin typeface="Times New Roman" panose="02020603050405020304" pitchFamily="18" charset="0"/>
                <a:cs typeface="Times New Roman" panose="02020603050405020304" pitchFamily="18" charset="0"/>
              </a:rPr>
              <a:t>The E-Commerce Customer Behaviour Analysis project focuses on understanding customer interactions in an online shopping platform. The dataset contains information about product views, cart additions, purchases, product categories, brands, prices, and user sessions.</a:t>
            </a:r>
          </a:p>
          <a:p>
            <a:r>
              <a:rPr lang="en-IN" sz="2800" dirty="0">
                <a:latin typeface="Times New Roman" panose="02020603050405020304" pitchFamily="18" charset="0"/>
                <a:cs typeface="Times New Roman" panose="02020603050405020304" pitchFamily="18" charset="0"/>
              </a:rPr>
              <a:t>Data Science is used to collect, clean, process, and </a:t>
            </a:r>
            <a:r>
              <a:rPr lang="en-IN" sz="2800" dirty="0" err="1">
                <a:latin typeface="Times New Roman" panose="02020603050405020304" pitchFamily="18" charset="0"/>
                <a:cs typeface="Times New Roman" panose="02020603050405020304" pitchFamily="18" charset="0"/>
              </a:rPr>
              <a:t>analyze</a:t>
            </a:r>
            <a:r>
              <a:rPr lang="en-IN" sz="2800" dirty="0">
                <a:latin typeface="Times New Roman" panose="02020603050405020304" pitchFamily="18" charset="0"/>
                <a:cs typeface="Times New Roman" panose="02020603050405020304" pitchFamily="18" charset="0"/>
              </a:rPr>
              <a:t> large volumes of customer data to discover useful patterns and insights. Before performing any analysis, the dataset must undergo preprocessing to remove errors, inconsistencies, and redundant information.</a:t>
            </a:r>
          </a:p>
          <a:p>
            <a:r>
              <a:rPr lang="en-IN" sz="2800" dirty="0">
                <a:latin typeface="Times New Roman" panose="02020603050405020304" pitchFamily="18" charset="0"/>
                <a:cs typeface="Times New Roman" panose="02020603050405020304" pitchFamily="18" charset="0"/>
              </a:rPr>
              <a:t>This project demonstrates the complete Data Science workflow, starting from data collection and cleaning to analysis and interpretation. The objective is to prepare high-quality data that can be used for future business intelligence and machine learning applications.</a:t>
            </a:r>
          </a:p>
          <a:p>
            <a:endParaRPr lang="en-IN" sz="2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00578590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C50DEEA2-5B6F-78D4-EBD3-59106768B775}"/>
              </a:ext>
            </a:extLst>
          </p:cNvPr>
          <p:cNvSpPr txBox="1"/>
          <p:nvPr/>
        </p:nvSpPr>
        <p:spPr>
          <a:xfrm>
            <a:off x="1230697" y="322225"/>
            <a:ext cx="7315200" cy="769441"/>
          </a:xfrm>
          <a:prstGeom prst="rect">
            <a:avLst/>
          </a:prstGeom>
          <a:noFill/>
        </p:spPr>
        <p:txBody>
          <a:bodyPr wrap="square" rtlCol="0">
            <a:spAutoFit/>
          </a:bodyPr>
          <a:lstStyle/>
          <a:p>
            <a:r>
              <a:rPr lang="en-IN" sz="4400" dirty="0">
                <a:latin typeface="Times New Roman" panose="02020603050405020304" pitchFamily="18" charset="0"/>
                <a:cs typeface="Times New Roman" panose="02020603050405020304" pitchFamily="18" charset="0"/>
              </a:rPr>
              <a:t>CO 1 TOPICS USED</a:t>
            </a:r>
          </a:p>
        </p:txBody>
      </p:sp>
      <p:sp>
        <p:nvSpPr>
          <p:cNvPr id="15" name="TextBox 14">
            <a:extLst>
              <a:ext uri="{FF2B5EF4-FFF2-40B4-BE49-F238E27FC236}">
                <a16:creationId xmlns:a16="http://schemas.microsoft.com/office/drawing/2014/main" id="{BE4DB554-178A-8EBE-88C9-F513783E9938}"/>
              </a:ext>
            </a:extLst>
          </p:cNvPr>
          <p:cNvSpPr txBox="1"/>
          <p:nvPr/>
        </p:nvSpPr>
        <p:spPr>
          <a:xfrm>
            <a:off x="1347537" y="1010653"/>
            <a:ext cx="8085221" cy="4154984"/>
          </a:xfrm>
          <a:prstGeom prst="rect">
            <a:avLst/>
          </a:prstGeom>
          <a:noFill/>
        </p:spPr>
        <p:txBody>
          <a:bodyPr wrap="square" rtlCol="0">
            <a:spAutoFit/>
          </a:bodyPr>
          <a:lstStyle/>
          <a:p>
            <a:pPr marL="342900" indent="-342900">
              <a:buFont typeface="Courier New" panose="02070309020205020404" pitchFamily="49" charset="0"/>
              <a:buChar char="o"/>
            </a:pPr>
            <a:r>
              <a:rPr lang="en-IN" sz="2400" dirty="0">
                <a:latin typeface="Times New Roman" panose="02020603050405020304" pitchFamily="18" charset="0"/>
                <a:cs typeface="Times New Roman" panose="02020603050405020304" pitchFamily="18" charset="0"/>
              </a:rPr>
              <a:t>Introduction to Data Science </a:t>
            </a:r>
          </a:p>
          <a:p>
            <a:pPr marL="342900" indent="-342900">
              <a:buFont typeface="Courier New" panose="02070309020205020404" pitchFamily="49" charset="0"/>
              <a:buChar char="o"/>
            </a:pPr>
            <a:r>
              <a:rPr lang="en-IN" sz="2400" dirty="0">
                <a:latin typeface="Times New Roman" panose="02020603050405020304" pitchFamily="18" charset="0"/>
                <a:cs typeface="Times New Roman" panose="02020603050405020304" pitchFamily="18" charset="0"/>
              </a:rPr>
              <a:t>Structured Data </a:t>
            </a:r>
          </a:p>
          <a:p>
            <a:pPr marL="342900" indent="-342900">
              <a:buFont typeface="Courier New" panose="02070309020205020404" pitchFamily="49" charset="0"/>
              <a:buChar char="o"/>
            </a:pPr>
            <a:r>
              <a:rPr lang="en-IN" sz="2400" dirty="0">
                <a:latin typeface="Times New Roman" panose="02020603050405020304" pitchFamily="18" charset="0"/>
                <a:cs typeface="Times New Roman" panose="02020603050405020304" pitchFamily="18" charset="0"/>
              </a:rPr>
              <a:t>Data Sources </a:t>
            </a:r>
          </a:p>
          <a:p>
            <a:pPr marL="342900" indent="-342900">
              <a:buFont typeface="Courier New" panose="02070309020205020404" pitchFamily="49" charset="0"/>
              <a:buChar char="o"/>
            </a:pPr>
            <a:r>
              <a:rPr lang="en-IN" sz="2400" dirty="0">
                <a:latin typeface="Times New Roman" panose="02020603050405020304" pitchFamily="18" charset="0"/>
                <a:cs typeface="Times New Roman" panose="02020603050405020304" pitchFamily="18" charset="0"/>
              </a:rPr>
              <a:t>Data Lifecycle</a:t>
            </a:r>
          </a:p>
          <a:p>
            <a:pPr marL="342900" indent="-342900">
              <a:buFont typeface="Courier New" panose="02070309020205020404" pitchFamily="49" charset="0"/>
              <a:buChar char="o"/>
            </a:pPr>
            <a:r>
              <a:rPr lang="en-IN" sz="2400" dirty="0">
                <a:latin typeface="Times New Roman" panose="02020603050405020304" pitchFamily="18" charset="0"/>
                <a:cs typeface="Times New Roman" panose="02020603050405020304" pitchFamily="18" charset="0"/>
              </a:rPr>
              <a:t>Missing Value Handling</a:t>
            </a:r>
          </a:p>
          <a:p>
            <a:pPr marL="342900" indent="-342900">
              <a:buFont typeface="Courier New" panose="02070309020205020404" pitchFamily="49" charset="0"/>
              <a:buChar char="o"/>
            </a:pPr>
            <a:r>
              <a:rPr lang="en-IN" sz="2400" dirty="0">
                <a:latin typeface="Times New Roman" panose="02020603050405020304" pitchFamily="18" charset="0"/>
                <a:cs typeface="Times New Roman" panose="02020603050405020304" pitchFamily="18" charset="0"/>
              </a:rPr>
              <a:t>Duplicate Removal</a:t>
            </a:r>
          </a:p>
          <a:p>
            <a:pPr marL="342900" indent="-342900">
              <a:buFont typeface="Courier New" panose="02070309020205020404" pitchFamily="49" charset="0"/>
              <a:buChar char="o"/>
            </a:pPr>
            <a:r>
              <a:rPr lang="en-IN" sz="2400" dirty="0">
                <a:latin typeface="Times New Roman" panose="02020603050405020304" pitchFamily="18" charset="0"/>
                <a:cs typeface="Times New Roman" panose="02020603050405020304" pitchFamily="18" charset="0"/>
              </a:rPr>
              <a:t>Outlier Detection</a:t>
            </a:r>
          </a:p>
          <a:p>
            <a:pPr marL="342900" indent="-342900">
              <a:buFont typeface="Courier New" panose="02070309020205020404" pitchFamily="49" charset="0"/>
              <a:buChar char="o"/>
            </a:pPr>
            <a:r>
              <a:rPr lang="en-IN" sz="2400" dirty="0">
                <a:latin typeface="Times New Roman" panose="02020603050405020304" pitchFamily="18" charset="0"/>
                <a:cs typeface="Times New Roman" panose="02020603050405020304" pitchFamily="18" charset="0"/>
              </a:rPr>
              <a:t>Data Transformation </a:t>
            </a:r>
          </a:p>
          <a:p>
            <a:pPr marL="342900" indent="-342900">
              <a:buFont typeface="Courier New" panose="02070309020205020404" pitchFamily="49" charset="0"/>
              <a:buChar char="o"/>
            </a:pPr>
            <a:r>
              <a:rPr lang="en-IN" sz="2400" dirty="0">
                <a:latin typeface="Times New Roman" panose="02020603050405020304" pitchFamily="18" charset="0"/>
                <a:cs typeface="Times New Roman" panose="02020603050405020304" pitchFamily="18" charset="0"/>
              </a:rPr>
              <a:t>Feature Preparation </a:t>
            </a:r>
          </a:p>
          <a:p>
            <a:pPr marL="342900" indent="-342900">
              <a:buFont typeface="Courier New" panose="02070309020205020404" pitchFamily="49" charset="0"/>
              <a:buChar char="o"/>
            </a:pPr>
            <a:r>
              <a:rPr lang="en-IN" sz="2400" dirty="0">
                <a:latin typeface="Times New Roman" panose="02020603050405020304" pitchFamily="18" charset="0"/>
                <a:cs typeface="Times New Roman" panose="02020603050405020304" pitchFamily="18" charset="0"/>
              </a:rPr>
              <a:t>Data Quality and Integrity </a:t>
            </a:r>
          </a:p>
          <a:p>
            <a:pPr marL="342900" indent="-342900">
              <a:buFont typeface="Courier New" panose="02070309020205020404" pitchFamily="49" charset="0"/>
              <a:buChar char="o"/>
            </a:pPr>
            <a:r>
              <a:rPr lang="en-IN" sz="2400" dirty="0">
                <a:latin typeface="Times New Roman" panose="02020603050405020304" pitchFamily="18" charset="0"/>
                <a:cs typeface="Times New Roman" panose="02020603050405020304" pitchFamily="18" charset="0"/>
              </a:rPr>
              <a:t>Data Analysis Workflow</a:t>
            </a:r>
          </a:p>
        </p:txBody>
      </p:sp>
    </p:spTree>
    <p:extLst>
      <p:ext uri="{BB962C8B-B14F-4D97-AF65-F5344CB8AC3E}">
        <p14:creationId xmlns:p14="http://schemas.microsoft.com/office/powerpoint/2010/main" val="141267063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B91AD36E-C25B-BAE3-B2B5-B4B9327BB69E}"/>
              </a:ext>
            </a:extLst>
          </p:cNvPr>
          <p:cNvSpPr txBox="1"/>
          <p:nvPr/>
        </p:nvSpPr>
        <p:spPr>
          <a:xfrm>
            <a:off x="1605280" y="164579"/>
            <a:ext cx="6410960" cy="769441"/>
          </a:xfrm>
          <a:prstGeom prst="rect">
            <a:avLst/>
          </a:prstGeom>
          <a:noFill/>
        </p:spPr>
        <p:txBody>
          <a:bodyPr wrap="square" rtlCol="0">
            <a:spAutoFit/>
          </a:bodyPr>
          <a:lstStyle/>
          <a:p>
            <a:r>
              <a:rPr lang="en-IN" sz="4400" dirty="0">
                <a:latin typeface="Times New Roman" panose="02020603050405020304" pitchFamily="18" charset="0"/>
                <a:cs typeface="Times New Roman" panose="02020603050405020304" pitchFamily="18" charset="0"/>
              </a:rPr>
              <a:t>DATA DESCRIPTION  </a:t>
            </a:r>
          </a:p>
        </p:txBody>
      </p:sp>
      <p:graphicFrame>
        <p:nvGraphicFramePr>
          <p:cNvPr id="8" name="Table 7">
            <a:extLst>
              <a:ext uri="{FF2B5EF4-FFF2-40B4-BE49-F238E27FC236}">
                <a16:creationId xmlns:a16="http://schemas.microsoft.com/office/drawing/2014/main" id="{07939A64-69D2-A6E9-6B13-47CA7FFA564E}"/>
              </a:ext>
            </a:extLst>
          </p:cNvPr>
          <p:cNvGraphicFramePr>
            <a:graphicFrameLocks noGrp="1"/>
          </p:cNvGraphicFramePr>
          <p:nvPr>
            <p:extLst>
              <p:ext uri="{D42A27DB-BD31-4B8C-83A1-F6EECF244321}">
                <p14:modId xmlns:p14="http://schemas.microsoft.com/office/powerpoint/2010/main" val="272509517"/>
              </p:ext>
            </p:extLst>
          </p:nvPr>
        </p:nvGraphicFramePr>
        <p:xfrm>
          <a:off x="1605280" y="934020"/>
          <a:ext cx="8922918" cy="5578540"/>
        </p:xfrm>
        <a:graphic>
          <a:graphicData uri="http://schemas.openxmlformats.org/drawingml/2006/table">
            <a:tbl>
              <a:tblPr/>
              <a:tblGrid>
                <a:gridCol w="4461459">
                  <a:extLst>
                    <a:ext uri="{9D8B030D-6E8A-4147-A177-3AD203B41FA5}">
                      <a16:colId xmlns:a16="http://schemas.microsoft.com/office/drawing/2014/main" val="4034917015"/>
                    </a:ext>
                  </a:extLst>
                </a:gridCol>
                <a:gridCol w="4461459">
                  <a:extLst>
                    <a:ext uri="{9D8B030D-6E8A-4147-A177-3AD203B41FA5}">
                      <a16:colId xmlns:a16="http://schemas.microsoft.com/office/drawing/2014/main" val="2181943573"/>
                    </a:ext>
                  </a:extLst>
                </a:gridCol>
              </a:tblGrid>
              <a:tr h="408951">
                <a:tc>
                  <a:txBody>
                    <a:bodyPr/>
                    <a:lstStyle/>
                    <a:p>
                      <a:pPr>
                        <a:buNone/>
                      </a:pPr>
                      <a:r>
                        <a:rPr lang="en-IN" sz="2400">
                          <a:latin typeface="Times New Roman" panose="02020603050405020304" pitchFamily="18" charset="0"/>
                          <a:cs typeface="Times New Roman" panose="02020603050405020304" pitchFamily="18" charset="0"/>
                        </a:rPr>
                        <a:t>Attribute</a:t>
                      </a:r>
                    </a:p>
                  </a:txBody>
                  <a:tcPr marL="82365" marR="82365" marT="41183" marB="41183" anchor="ctr">
                    <a:lnL>
                      <a:noFill/>
                    </a:lnL>
                    <a:lnR>
                      <a:noFill/>
                    </a:lnR>
                    <a:lnT>
                      <a:noFill/>
                    </a:lnT>
                    <a:lnB>
                      <a:noFill/>
                    </a:lnB>
                    <a:noFill/>
                  </a:tcPr>
                </a:tc>
                <a:tc>
                  <a:txBody>
                    <a:bodyPr/>
                    <a:lstStyle/>
                    <a:p>
                      <a:pPr>
                        <a:buNone/>
                      </a:pPr>
                      <a:r>
                        <a:rPr lang="en-IN" sz="2400">
                          <a:latin typeface="Times New Roman" panose="02020603050405020304" pitchFamily="18" charset="0"/>
                          <a:cs typeface="Times New Roman" panose="02020603050405020304" pitchFamily="18" charset="0"/>
                        </a:rPr>
                        <a:t>Description</a:t>
                      </a:r>
                    </a:p>
                  </a:txBody>
                  <a:tcPr marL="82365" marR="82365" marT="41183" marB="41183" anchor="ctr">
                    <a:lnL>
                      <a:noFill/>
                    </a:lnL>
                    <a:lnR>
                      <a:noFill/>
                    </a:lnR>
                    <a:lnT>
                      <a:noFill/>
                    </a:lnT>
                    <a:lnB>
                      <a:noFill/>
                    </a:lnB>
                    <a:noFill/>
                  </a:tcPr>
                </a:tc>
                <a:extLst>
                  <a:ext uri="{0D108BD9-81ED-4DB2-BD59-A6C34878D82A}">
                    <a16:rowId xmlns:a16="http://schemas.microsoft.com/office/drawing/2014/main" val="925554833"/>
                  </a:ext>
                </a:extLst>
              </a:tr>
              <a:tr h="715664">
                <a:tc>
                  <a:txBody>
                    <a:bodyPr/>
                    <a:lstStyle/>
                    <a:p>
                      <a:pPr>
                        <a:buNone/>
                      </a:pPr>
                      <a:r>
                        <a:rPr lang="en-IN" sz="2400" dirty="0" err="1">
                          <a:latin typeface="Times New Roman" panose="02020603050405020304" pitchFamily="18" charset="0"/>
                          <a:cs typeface="Times New Roman" panose="02020603050405020304" pitchFamily="18" charset="0"/>
                        </a:rPr>
                        <a:t>event_time</a:t>
                      </a:r>
                      <a:endParaRPr lang="en-IN" sz="2400" dirty="0">
                        <a:latin typeface="Times New Roman" panose="02020603050405020304" pitchFamily="18" charset="0"/>
                        <a:cs typeface="Times New Roman" panose="02020603050405020304" pitchFamily="18" charset="0"/>
                      </a:endParaRPr>
                    </a:p>
                  </a:txBody>
                  <a:tcPr marL="82365" marR="82365" marT="41183" marB="41183" anchor="ctr">
                    <a:lnL>
                      <a:noFill/>
                    </a:lnL>
                    <a:lnR>
                      <a:noFill/>
                    </a:lnR>
                    <a:lnT>
                      <a:noFill/>
                    </a:lnT>
                    <a:lnB>
                      <a:noFill/>
                    </a:lnB>
                    <a:noFill/>
                  </a:tcPr>
                </a:tc>
                <a:tc>
                  <a:txBody>
                    <a:bodyPr/>
                    <a:lstStyle/>
                    <a:p>
                      <a:pPr>
                        <a:buNone/>
                      </a:pPr>
                      <a:r>
                        <a:rPr lang="en-IN" sz="2400">
                          <a:latin typeface="Times New Roman" panose="02020603050405020304" pitchFamily="18" charset="0"/>
                          <a:cs typeface="Times New Roman" panose="02020603050405020304" pitchFamily="18" charset="0"/>
                        </a:rPr>
                        <a:t>Date and time when the customer performed an action</a:t>
                      </a:r>
                    </a:p>
                  </a:txBody>
                  <a:tcPr marL="82365" marR="82365" marT="41183" marB="41183" anchor="ctr">
                    <a:lnL>
                      <a:noFill/>
                    </a:lnL>
                    <a:lnR>
                      <a:noFill/>
                    </a:lnR>
                    <a:lnT>
                      <a:noFill/>
                    </a:lnT>
                    <a:lnB>
                      <a:noFill/>
                    </a:lnB>
                    <a:noFill/>
                  </a:tcPr>
                </a:tc>
                <a:extLst>
                  <a:ext uri="{0D108BD9-81ED-4DB2-BD59-A6C34878D82A}">
                    <a16:rowId xmlns:a16="http://schemas.microsoft.com/office/drawing/2014/main" val="1031742540"/>
                  </a:ext>
                </a:extLst>
              </a:tr>
              <a:tr h="408951">
                <a:tc>
                  <a:txBody>
                    <a:bodyPr/>
                    <a:lstStyle/>
                    <a:p>
                      <a:pPr>
                        <a:buNone/>
                      </a:pPr>
                      <a:r>
                        <a:rPr lang="en-IN" sz="2400">
                          <a:latin typeface="Times New Roman" panose="02020603050405020304" pitchFamily="18" charset="0"/>
                          <a:cs typeface="Times New Roman" panose="02020603050405020304" pitchFamily="18" charset="0"/>
                        </a:rPr>
                        <a:t>event_type</a:t>
                      </a:r>
                    </a:p>
                  </a:txBody>
                  <a:tcPr marL="82365" marR="82365" marT="41183" marB="41183" anchor="ctr">
                    <a:lnL>
                      <a:noFill/>
                    </a:lnL>
                    <a:lnR>
                      <a:noFill/>
                    </a:lnR>
                    <a:lnT>
                      <a:noFill/>
                    </a:lnT>
                    <a:lnB>
                      <a:noFill/>
                    </a:lnB>
                    <a:noFill/>
                  </a:tcPr>
                </a:tc>
                <a:tc>
                  <a:txBody>
                    <a:bodyPr/>
                    <a:lstStyle/>
                    <a:p>
                      <a:pPr>
                        <a:buNone/>
                      </a:pPr>
                      <a:r>
                        <a:rPr lang="en-IN" sz="2400">
                          <a:latin typeface="Times New Roman" panose="02020603050405020304" pitchFamily="18" charset="0"/>
                          <a:cs typeface="Times New Roman" panose="02020603050405020304" pitchFamily="18" charset="0"/>
                        </a:rPr>
                        <a:t>Type of activity (view, cart, purchase)</a:t>
                      </a:r>
                    </a:p>
                  </a:txBody>
                  <a:tcPr marL="82365" marR="82365" marT="41183" marB="41183" anchor="ctr">
                    <a:lnL>
                      <a:noFill/>
                    </a:lnL>
                    <a:lnR>
                      <a:noFill/>
                    </a:lnR>
                    <a:lnT>
                      <a:noFill/>
                    </a:lnT>
                    <a:lnB>
                      <a:noFill/>
                    </a:lnB>
                    <a:noFill/>
                  </a:tcPr>
                </a:tc>
                <a:extLst>
                  <a:ext uri="{0D108BD9-81ED-4DB2-BD59-A6C34878D82A}">
                    <a16:rowId xmlns:a16="http://schemas.microsoft.com/office/drawing/2014/main" val="3097154650"/>
                  </a:ext>
                </a:extLst>
              </a:tr>
              <a:tr h="408951">
                <a:tc>
                  <a:txBody>
                    <a:bodyPr/>
                    <a:lstStyle/>
                    <a:p>
                      <a:pPr>
                        <a:buNone/>
                      </a:pPr>
                      <a:r>
                        <a:rPr lang="en-IN" sz="2400">
                          <a:latin typeface="Times New Roman" panose="02020603050405020304" pitchFamily="18" charset="0"/>
                          <a:cs typeface="Times New Roman" panose="02020603050405020304" pitchFamily="18" charset="0"/>
                        </a:rPr>
                        <a:t>product_id</a:t>
                      </a:r>
                    </a:p>
                  </a:txBody>
                  <a:tcPr marL="82365" marR="82365" marT="41183" marB="41183" anchor="ctr">
                    <a:lnL>
                      <a:noFill/>
                    </a:lnL>
                    <a:lnR>
                      <a:noFill/>
                    </a:lnR>
                    <a:lnT>
                      <a:noFill/>
                    </a:lnT>
                    <a:lnB>
                      <a:noFill/>
                    </a:lnB>
                    <a:noFill/>
                  </a:tcPr>
                </a:tc>
                <a:tc>
                  <a:txBody>
                    <a:bodyPr/>
                    <a:lstStyle/>
                    <a:p>
                      <a:pPr>
                        <a:buNone/>
                      </a:pPr>
                      <a:r>
                        <a:rPr lang="en-IN" sz="2400">
                          <a:latin typeface="Times New Roman" panose="02020603050405020304" pitchFamily="18" charset="0"/>
                          <a:cs typeface="Times New Roman" panose="02020603050405020304" pitchFamily="18" charset="0"/>
                        </a:rPr>
                        <a:t>Unique identifier of the product</a:t>
                      </a:r>
                    </a:p>
                  </a:txBody>
                  <a:tcPr marL="82365" marR="82365" marT="41183" marB="41183" anchor="ctr">
                    <a:lnL>
                      <a:noFill/>
                    </a:lnL>
                    <a:lnR>
                      <a:noFill/>
                    </a:lnR>
                    <a:lnT>
                      <a:noFill/>
                    </a:lnT>
                    <a:lnB>
                      <a:noFill/>
                    </a:lnB>
                    <a:noFill/>
                  </a:tcPr>
                </a:tc>
                <a:extLst>
                  <a:ext uri="{0D108BD9-81ED-4DB2-BD59-A6C34878D82A}">
                    <a16:rowId xmlns:a16="http://schemas.microsoft.com/office/drawing/2014/main" val="2946836019"/>
                  </a:ext>
                </a:extLst>
              </a:tr>
              <a:tr h="408951">
                <a:tc>
                  <a:txBody>
                    <a:bodyPr/>
                    <a:lstStyle/>
                    <a:p>
                      <a:pPr>
                        <a:buNone/>
                      </a:pPr>
                      <a:r>
                        <a:rPr lang="en-IN" sz="2400">
                          <a:latin typeface="Times New Roman" panose="02020603050405020304" pitchFamily="18" charset="0"/>
                          <a:cs typeface="Times New Roman" panose="02020603050405020304" pitchFamily="18" charset="0"/>
                        </a:rPr>
                        <a:t>category_id</a:t>
                      </a:r>
                    </a:p>
                  </a:txBody>
                  <a:tcPr marL="82365" marR="82365" marT="41183" marB="41183" anchor="ctr">
                    <a:lnL>
                      <a:noFill/>
                    </a:lnL>
                    <a:lnR>
                      <a:noFill/>
                    </a:lnR>
                    <a:lnT>
                      <a:noFill/>
                    </a:lnT>
                    <a:lnB>
                      <a:noFill/>
                    </a:lnB>
                    <a:noFill/>
                  </a:tcPr>
                </a:tc>
                <a:tc>
                  <a:txBody>
                    <a:bodyPr/>
                    <a:lstStyle/>
                    <a:p>
                      <a:pPr>
                        <a:buNone/>
                      </a:pPr>
                      <a:r>
                        <a:rPr lang="en-IN" sz="2400">
                          <a:latin typeface="Times New Roman" panose="02020603050405020304" pitchFamily="18" charset="0"/>
                          <a:cs typeface="Times New Roman" panose="02020603050405020304" pitchFamily="18" charset="0"/>
                        </a:rPr>
                        <a:t>Unique identifier of the product category</a:t>
                      </a:r>
                    </a:p>
                  </a:txBody>
                  <a:tcPr marL="82365" marR="82365" marT="41183" marB="41183" anchor="ctr">
                    <a:lnL>
                      <a:noFill/>
                    </a:lnL>
                    <a:lnR>
                      <a:noFill/>
                    </a:lnR>
                    <a:lnT>
                      <a:noFill/>
                    </a:lnT>
                    <a:lnB>
                      <a:noFill/>
                    </a:lnB>
                    <a:noFill/>
                  </a:tcPr>
                </a:tc>
                <a:extLst>
                  <a:ext uri="{0D108BD9-81ED-4DB2-BD59-A6C34878D82A}">
                    <a16:rowId xmlns:a16="http://schemas.microsoft.com/office/drawing/2014/main" val="4270024608"/>
                  </a:ext>
                </a:extLst>
              </a:tr>
              <a:tr h="408951">
                <a:tc>
                  <a:txBody>
                    <a:bodyPr/>
                    <a:lstStyle/>
                    <a:p>
                      <a:pPr>
                        <a:buNone/>
                      </a:pPr>
                      <a:r>
                        <a:rPr lang="en-IN" sz="2400">
                          <a:latin typeface="Times New Roman" panose="02020603050405020304" pitchFamily="18" charset="0"/>
                          <a:cs typeface="Times New Roman" panose="02020603050405020304" pitchFamily="18" charset="0"/>
                        </a:rPr>
                        <a:t>category_code</a:t>
                      </a:r>
                    </a:p>
                  </a:txBody>
                  <a:tcPr marL="82365" marR="82365" marT="41183" marB="41183" anchor="ctr">
                    <a:lnL>
                      <a:noFill/>
                    </a:lnL>
                    <a:lnR>
                      <a:noFill/>
                    </a:lnR>
                    <a:lnT>
                      <a:noFill/>
                    </a:lnT>
                    <a:lnB>
                      <a:noFill/>
                    </a:lnB>
                    <a:noFill/>
                  </a:tcPr>
                </a:tc>
                <a:tc>
                  <a:txBody>
                    <a:bodyPr/>
                    <a:lstStyle/>
                    <a:p>
                      <a:pPr>
                        <a:buNone/>
                      </a:pPr>
                      <a:r>
                        <a:rPr lang="en-IN" sz="2400">
                          <a:latin typeface="Times New Roman" panose="02020603050405020304" pitchFamily="18" charset="0"/>
                          <a:cs typeface="Times New Roman" panose="02020603050405020304" pitchFamily="18" charset="0"/>
                        </a:rPr>
                        <a:t>Product category name/code</a:t>
                      </a:r>
                    </a:p>
                  </a:txBody>
                  <a:tcPr marL="82365" marR="82365" marT="41183" marB="41183" anchor="ctr">
                    <a:lnL>
                      <a:noFill/>
                    </a:lnL>
                    <a:lnR>
                      <a:noFill/>
                    </a:lnR>
                    <a:lnT>
                      <a:noFill/>
                    </a:lnT>
                    <a:lnB>
                      <a:noFill/>
                    </a:lnB>
                    <a:noFill/>
                  </a:tcPr>
                </a:tc>
                <a:extLst>
                  <a:ext uri="{0D108BD9-81ED-4DB2-BD59-A6C34878D82A}">
                    <a16:rowId xmlns:a16="http://schemas.microsoft.com/office/drawing/2014/main" val="996479080"/>
                  </a:ext>
                </a:extLst>
              </a:tr>
              <a:tr h="408951">
                <a:tc>
                  <a:txBody>
                    <a:bodyPr/>
                    <a:lstStyle/>
                    <a:p>
                      <a:pPr>
                        <a:buNone/>
                      </a:pPr>
                      <a:r>
                        <a:rPr lang="en-IN" sz="2400">
                          <a:latin typeface="Times New Roman" panose="02020603050405020304" pitchFamily="18" charset="0"/>
                          <a:cs typeface="Times New Roman" panose="02020603050405020304" pitchFamily="18" charset="0"/>
                        </a:rPr>
                        <a:t>brand</a:t>
                      </a:r>
                    </a:p>
                  </a:txBody>
                  <a:tcPr marL="82365" marR="82365" marT="41183" marB="41183" anchor="ctr">
                    <a:lnL>
                      <a:noFill/>
                    </a:lnL>
                    <a:lnR>
                      <a:noFill/>
                    </a:lnR>
                    <a:lnT>
                      <a:noFill/>
                    </a:lnT>
                    <a:lnB>
                      <a:noFill/>
                    </a:lnB>
                    <a:noFill/>
                  </a:tcPr>
                </a:tc>
                <a:tc>
                  <a:txBody>
                    <a:bodyPr/>
                    <a:lstStyle/>
                    <a:p>
                      <a:pPr>
                        <a:buNone/>
                      </a:pPr>
                      <a:r>
                        <a:rPr lang="en-IN" sz="2400">
                          <a:latin typeface="Times New Roman" panose="02020603050405020304" pitchFamily="18" charset="0"/>
                          <a:cs typeface="Times New Roman" panose="02020603050405020304" pitchFamily="18" charset="0"/>
                        </a:rPr>
                        <a:t>Brand name of the product</a:t>
                      </a:r>
                    </a:p>
                  </a:txBody>
                  <a:tcPr marL="82365" marR="82365" marT="41183" marB="41183" anchor="ctr">
                    <a:lnL>
                      <a:noFill/>
                    </a:lnL>
                    <a:lnR>
                      <a:noFill/>
                    </a:lnR>
                    <a:lnT>
                      <a:noFill/>
                    </a:lnT>
                    <a:lnB>
                      <a:noFill/>
                    </a:lnB>
                    <a:noFill/>
                  </a:tcPr>
                </a:tc>
                <a:extLst>
                  <a:ext uri="{0D108BD9-81ED-4DB2-BD59-A6C34878D82A}">
                    <a16:rowId xmlns:a16="http://schemas.microsoft.com/office/drawing/2014/main" val="326457644"/>
                  </a:ext>
                </a:extLst>
              </a:tr>
              <a:tr h="408951">
                <a:tc>
                  <a:txBody>
                    <a:bodyPr/>
                    <a:lstStyle/>
                    <a:p>
                      <a:pPr>
                        <a:buNone/>
                      </a:pPr>
                      <a:r>
                        <a:rPr lang="en-IN" sz="2400">
                          <a:latin typeface="Times New Roman" panose="02020603050405020304" pitchFamily="18" charset="0"/>
                          <a:cs typeface="Times New Roman" panose="02020603050405020304" pitchFamily="18" charset="0"/>
                        </a:rPr>
                        <a:t>price</a:t>
                      </a:r>
                    </a:p>
                  </a:txBody>
                  <a:tcPr marL="82365" marR="82365" marT="41183" marB="41183" anchor="ctr">
                    <a:lnL>
                      <a:noFill/>
                    </a:lnL>
                    <a:lnR>
                      <a:noFill/>
                    </a:lnR>
                    <a:lnT>
                      <a:noFill/>
                    </a:lnT>
                    <a:lnB>
                      <a:noFill/>
                    </a:lnB>
                    <a:noFill/>
                  </a:tcPr>
                </a:tc>
                <a:tc>
                  <a:txBody>
                    <a:bodyPr/>
                    <a:lstStyle/>
                    <a:p>
                      <a:pPr>
                        <a:buNone/>
                      </a:pPr>
                      <a:r>
                        <a:rPr lang="en-IN" sz="2400">
                          <a:latin typeface="Times New Roman" panose="02020603050405020304" pitchFamily="18" charset="0"/>
                          <a:cs typeface="Times New Roman" panose="02020603050405020304" pitchFamily="18" charset="0"/>
                        </a:rPr>
                        <a:t>Price of the product</a:t>
                      </a:r>
                    </a:p>
                  </a:txBody>
                  <a:tcPr marL="82365" marR="82365" marT="41183" marB="41183" anchor="ctr">
                    <a:lnL>
                      <a:noFill/>
                    </a:lnL>
                    <a:lnR>
                      <a:noFill/>
                    </a:lnR>
                    <a:lnT>
                      <a:noFill/>
                    </a:lnT>
                    <a:lnB>
                      <a:noFill/>
                    </a:lnB>
                    <a:noFill/>
                  </a:tcPr>
                </a:tc>
                <a:extLst>
                  <a:ext uri="{0D108BD9-81ED-4DB2-BD59-A6C34878D82A}">
                    <a16:rowId xmlns:a16="http://schemas.microsoft.com/office/drawing/2014/main" val="3782044198"/>
                  </a:ext>
                </a:extLst>
              </a:tr>
              <a:tr h="408951">
                <a:tc>
                  <a:txBody>
                    <a:bodyPr/>
                    <a:lstStyle/>
                    <a:p>
                      <a:pPr>
                        <a:buNone/>
                      </a:pPr>
                      <a:r>
                        <a:rPr lang="en-IN" sz="2400">
                          <a:latin typeface="Times New Roman" panose="02020603050405020304" pitchFamily="18" charset="0"/>
                          <a:cs typeface="Times New Roman" panose="02020603050405020304" pitchFamily="18" charset="0"/>
                        </a:rPr>
                        <a:t>user_id</a:t>
                      </a:r>
                    </a:p>
                  </a:txBody>
                  <a:tcPr marL="82365" marR="82365" marT="41183" marB="41183" anchor="ctr">
                    <a:lnL>
                      <a:noFill/>
                    </a:lnL>
                    <a:lnR>
                      <a:noFill/>
                    </a:lnR>
                    <a:lnT>
                      <a:noFill/>
                    </a:lnT>
                    <a:lnB>
                      <a:noFill/>
                    </a:lnB>
                    <a:noFill/>
                  </a:tcPr>
                </a:tc>
                <a:tc>
                  <a:txBody>
                    <a:bodyPr/>
                    <a:lstStyle/>
                    <a:p>
                      <a:pPr>
                        <a:buNone/>
                      </a:pPr>
                      <a:r>
                        <a:rPr lang="en-IN" sz="2400">
                          <a:latin typeface="Times New Roman" panose="02020603050405020304" pitchFamily="18" charset="0"/>
                          <a:cs typeface="Times New Roman" panose="02020603050405020304" pitchFamily="18" charset="0"/>
                        </a:rPr>
                        <a:t>Unique identifier of the customer</a:t>
                      </a:r>
                    </a:p>
                  </a:txBody>
                  <a:tcPr marL="82365" marR="82365" marT="41183" marB="41183" anchor="ctr">
                    <a:lnL>
                      <a:noFill/>
                    </a:lnL>
                    <a:lnR>
                      <a:noFill/>
                    </a:lnR>
                    <a:lnT>
                      <a:noFill/>
                    </a:lnT>
                    <a:lnB>
                      <a:noFill/>
                    </a:lnB>
                    <a:noFill/>
                  </a:tcPr>
                </a:tc>
                <a:extLst>
                  <a:ext uri="{0D108BD9-81ED-4DB2-BD59-A6C34878D82A}">
                    <a16:rowId xmlns:a16="http://schemas.microsoft.com/office/drawing/2014/main" val="892761662"/>
                  </a:ext>
                </a:extLst>
              </a:tr>
              <a:tr h="408951">
                <a:tc>
                  <a:txBody>
                    <a:bodyPr/>
                    <a:lstStyle/>
                    <a:p>
                      <a:pPr>
                        <a:buNone/>
                      </a:pPr>
                      <a:r>
                        <a:rPr lang="en-IN" sz="2400" dirty="0" err="1">
                          <a:latin typeface="Times New Roman" panose="02020603050405020304" pitchFamily="18" charset="0"/>
                          <a:cs typeface="Times New Roman" panose="02020603050405020304" pitchFamily="18" charset="0"/>
                        </a:rPr>
                        <a:t>user_session</a:t>
                      </a:r>
                      <a:endParaRPr lang="en-IN" sz="2400" dirty="0">
                        <a:latin typeface="Times New Roman" panose="02020603050405020304" pitchFamily="18" charset="0"/>
                        <a:cs typeface="Times New Roman" panose="02020603050405020304" pitchFamily="18" charset="0"/>
                      </a:endParaRPr>
                    </a:p>
                  </a:txBody>
                  <a:tcPr marL="82365" marR="82365" marT="41183" marB="41183" anchor="ctr">
                    <a:lnL>
                      <a:noFill/>
                    </a:lnL>
                    <a:lnR>
                      <a:noFill/>
                    </a:lnR>
                    <a:lnT>
                      <a:noFill/>
                    </a:lnT>
                    <a:lnB>
                      <a:noFill/>
                    </a:lnB>
                    <a:noFill/>
                  </a:tcPr>
                </a:tc>
                <a:tc>
                  <a:txBody>
                    <a:bodyPr/>
                    <a:lstStyle/>
                    <a:p>
                      <a:pPr>
                        <a:buNone/>
                      </a:pPr>
                      <a:r>
                        <a:rPr lang="en-IN" sz="2400" dirty="0">
                          <a:latin typeface="Times New Roman" panose="02020603050405020304" pitchFamily="18" charset="0"/>
                          <a:cs typeface="Times New Roman" panose="02020603050405020304" pitchFamily="18" charset="0"/>
                        </a:rPr>
                        <a:t>Session identifier of the customer</a:t>
                      </a:r>
                    </a:p>
                  </a:txBody>
                  <a:tcPr marL="82365" marR="82365" marT="41183" marB="41183" anchor="ctr">
                    <a:lnL>
                      <a:noFill/>
                    </a:lnL>
                    <a:lnR>
                      <a:noFill/>
                    </a:lnR>
                    <a:lnT>
                      <a:noFill/>
                    </a:lnT>
                    <a:lnB>
                      <a:noFill/>
                    </a:lnB>
                    <a:noFill/>
                  </a:tcPr>
                </a:tc>
                <a:extLst>
                  <a:ext uri="{0D108BD9-81ED-4DB2-BD59-A6C34878D82A}">
                    <a16:rowId xmlns:a16="http://schemas.microsoft.com/office/drawing/2014/main" val="2511379525"/>
                  </a:ext>
                </a:extLst>
              </a:tr>
            </a:tbl>
          </a:graphicData>
        </a:graphic>
      </p:graphicFrame>
    </p:spTree>
    <p:extLst>
      <p:ext uri="{BB962C8B-B14F-4D97-AF65-F5344CB8AC3E}">
        <p14:creationId xmlns:p14="http://schemas.microsoft.com/office/powerpoint/2010/main" val="353710854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78AB0D6B-95EF-E125-7DDC-E2468289644E}"/>
              </a:ext>
            </a:extLst>
          </p:cNvPr>
          <p:cNvSpPr txBox="1"/>
          <p:nvPr/>
        </p:nvSpPr>
        <p:spPr>
          <a:xfrm>
            <a:off x="1446196" y="952901"/>
            <a:ext cx="10181924" cy="6186309"/>
          </a:xfrm>
          <a:prstGeom prst="rect">
            <a:avLst/>
          </a:prstGeom>
          <a:noFill/>
        </p:spPr>
        <p:txBody>
          <a:bodyPr wrap="square" rtlCol="0">
            <a:spAutoFit/>
          </a:bodyPr>
          <a:lstStyle/>
          <a:p>
            <a:r>
              <a:rPr lang="en-IN" dirty="0">
                <a:latin typeface="Times New Roman" panose="02020603050405020304" pitchFamily="18" charset="0"/>
                <a:cs typeface="Times New Roman" panose="02020603050405020304" pitchFamily="18" charset="0"/>
              </a:rPr>
              <a:t># ==========================================</a:t>
            </a:r>
          </a:p>
          <a:p>
            <a:r>
              <a:rPr lang="en-IN" dirty="0">
                <a:latin typeface="Times New Roman" panose="02020603050405020304" pitchFamily="18" charset="0"/>
                <a:cs typeface="Times New Roman" panose="02020603050405020304" pitchFamily="18" charset="0"/>
              </a:rPr>
              <a:t># CO-1 IMPLEMENTATION</a:t>
            </a:r>
          </a:p>
          <a:p>
            <a:r>
              <a:rPr lang="en-IN" dirty="0">
                <a:latin typeface="Times New Roman" panose="02020603050405020304" pitchFamily="18" charset="0"/>
                <a:cs typeface="Times New Roman" panose="02020603050405020304" pitchFamily="18" charset="0"/>
              </a:rPr>
              <a:t># E-Commerce Customer </a:t>
            </a:r>
            <a:r>
              <a:rPr lang="en-IN" dirty="0" err="1">
                <a:latin typeface="Times New Roman" panose="02020603050405020304" pitchFamily="18" charset="0"/>
                <a:cs typeface="Times New Roman" panose="02020603050405020304" pitchFamily="18" charset="0"/>
              </a:rPr>
              <a:t>Behavior</a:t>
            </a:r>
            <a:r>
              <a:rPr lang="en-IN" dirty="0">
                <a:latin typeface="Times New Roman" panose="02020603050405020304" pitchFamily="18" charset="0"/>
                <a:cs typeface="Times New Roman" panose="02020603050405020304" pitchFamily="18" charset="0"/>
              </a:rPr>
              <a:t> Analysis</a:t>
            </a:r>
          </a:p>
          <a:p>
            <a:r>
              <a:rPr lang="en-IN" dirty="0">
                <a:latin typeface="Times New Roman" panose="02020603050405020304" pitchFamily="18" charset="0"/>
                <a:cs typeface="Times New Roman" panose="02020603050405020304" pitchFamily="18" charset="0"/>
              </a:rPr>
              <a:t># ==========================================</a:t>
            </a:r>
          </a:p>
          <a:p>
            <a:endParaRPr lang="en-IN" dirty="0">
              <a:latin typeface="Times New Roman" panose="02020603050405020304" pitchFamily="18" charset="0"/>
              <a:cs typeface="Times New Roman" panose="02020603050405020304" pitchFamily="18" charset="0"/>
            </a:endParaRPr>
          </a:p>
          <a:p>
            <a:r>
              <a:rPr lang="en-IN" dirty="0">
                <a:latin typeface="Times New Roman" panose="02020603050405020304" pitchFamily="18" charset="0"/>
                <a:cs typeface="Times New Roman" panose="02020603050405020304" pitchFamily="18" charset="0"/>
              </a:rPr>
              <a:t># Step 1: Import Libraries</a:t>
            </a:r>
          </a:p>
          <a:p>
            <a:endParaRPr lang="en-IN" dirty="0">
              <a:latin typeface="Times New Roman" panose="02020603050405020304" pitchFamily="18" charset="0"/>
              <a:cs typeface="Times New Roman" panose="02020603050405020304" pitchFamily="18" charset="0"/>
            </a:endParaRPr>
          </a:p>
          <a:p>
            <a:r>
              <a:rPr lang="en-IN" dirty="0">
                <a:latin typeface="Times New Roman" panose="02020603050405020304" pitchFamily="18" charset="0"/>
                <a:cs typeface="Times New Roman" panose="02020603050405020304" pitchFamily="18" charset="0"/>
              </a:rPr>
              <a:t>import pandas as pd</a:t>
            </a:r>
          </a:p>
          <a:p>
            <a:r>
              <a:rPr lang="en-IN" dirty="0">
                <a:latin typeface="Times New Roman" panose="02020603050405020304" pitchFamily="18" charset="0"/>
                <a:cs typeface="Times New Roman" panose="02020603050405020304" pitchFamily="18" charset="0"/>
              </a:rPr>
              <a:t>import </a:t>
            </a:r>
            <a:r>
              <a:rPr lang="en-IN" dirty="0" err="1">
                <a:latin typeface="Times New Roman" panose="02020603050405020304" pitchFamily="18" charset="0"/>
                <a:cs typeface="Times New Roman" panose="02020603050405020304" pitchFamily="18" charset="0"/>
              </a:rPr>
              <a:t>numpy</a:t>
            </a:r>
            <a:r>
              <a:rPr lang="en-IN" dirty="0">
                <a:latin typeface="Times New Roman" panose="02020603050405020304" pitchFamily="18" charset="0"/>
                <a:cs typeface="Times New Roman" panose="02020603050405020304" pitchFamily="18" charset="0"/>
              </a:rPr>
              <a:t> as np</a:t>
            </a:r>
          </a:p>
          <a:p>
            <a:endParaRPr lang="en-IN" dirty="0">
              <a:latin typeface="Times New Roman" panose="02020603050405020304" pitchFamily="18" charset="0"/>
              <a:cs typeface="Times New Roman" panose="02020603050405020304" pitchFamily="18" charset="0"/>
            </a:endParaRPr>
          </a:p>
          <a:p>
            <a:r>
              <a:rPr lang="en-IN" dirty="0">
                <a:latin typeface="Times New Roman" panose="02020603050405020304" pitchFamily="18" charset="0"/>
                <a:cs typeface="Times New Roman" panose="02020603050405020304" pitchFamily="18" charset="0"/>
              </a:rPr>
              <a:t># Step 2: Load Dataset</a:t>
            </a:r>
          </a:p>
          <a:p>
            <a:endParaRPr lang="en-IN" dirty="0">
              <a:latin typeface="Times New Roman" panose="02020603050405020304" pitchFamily="18" charset="0"/>
              <a:cs typeface="Times New Roman" panose="02020603050405020304" pitchFamily="18" charset="0"/>
            </a:endParaRPr>
          </a:p>
          <a:p>
            <a:r>
              <a:rPr lang="en-IN" dirty="0" err="1">
                <a:latin typeface="Times New Roman" panose="02020603050405020304" pitchFamily="18" charset="0"/>
                <a:cs typeface="Times New Roman" panose="02020603050405020304" pitchFamily="18" charset="0"/>
              </a:rPr>
              <a:t>df</a:t>
            </a:r>
            <a:r>
              <a:rPr lang="en-IN" dirty="0">
                <a:latin typeface="Times New Roman" panose="02020603050405020304" pitchFamily="18" charset="0"/>
                <a:cs typeface="Times New Roman" panose="02020603050405020304" pitchFamily="18" charset="0"/>
              </a:rPr>
              <a:t> = </a:t>
            </a:r>
            <a:r>
              <a:rPr lang="en-IN" dirty="0" err="1">
                <a:latin typeface="Times New Roman" panose="02020603050405020304" pitchFamily="18" charset="0"/>
                <a:cs typeface="Times New Roman" panose="02020603050405020304" pitchFamily="18" charset="0"/>
              </a:rPr>
              <a:t>pd.read_csv</a:t>
            </a:r>
            <a:r>
              <a:rPr lang="en-IN" dirty="0">
                <a:latin typeface="Times New Roman" panose="02020603050405020304" pitchFamily="18" charset="0"/>
                <a:cs typeface="Times New Roman" panose="02020603050405020304" pitchFamily="18" charset="0"/>
              </a:rPr>
              <a:t>("ecommerce.csv")</a:t>
            </a:r>
          </a:p>
          <a:p>
            <a:endParaRPr lang="en-IN" dirty="0">
              <a:latin typeface="Times New Roman" panose="02020603050405020304" pitchFamily="18" charset="0"/>
              <a:cs typeface="Times New Roman" panose="02020603050405020304" pitchFamily="18" charset="0"/>
            </a:endParaRPr>
          </a:p>
          <a:p>
            <a:r>
              <a:rPr lang="en-IN" dirty="0">
                <a:latin typeface="Times New Roman" panose="02020603050405020304" pitchFamily="18" charset="0"/>
                <a:cs typeface="Times New Roman" panose="02020603050405020304" pitchFamily="18" charset="0"/>
              </a:rPr>
              <a:t># Step 3: Display First Records</a:t>
            </a:r>
          </a:p>
          <a:p>
            <a:endParaRPr lang="en-IN" dirty="0">
              <a:latin typeface="Times New Roman" panose="02020603050405020304" pitchFamily="18" charset="0"/>
              <a:cs typeface="Times New Roman" panose="02020603050405020304" pitchFamily="18" charset="0"/>
            </a:endParaRPr>
          </a:p>
          <a:p>
            <a:r>
              <a:rPr lang="en-IN" dirty="0">
                <a:latin typeface="Times New Roman" panose="02020603050405020304" pitchFamily="18" charset="0"/>
                <a:cs typeface="Times New Roman" panose="02020603050405020304" pitchFamily="18" charset="0"/>
              </a:rPr>
              <a:t>print("First 5 Records")</a:t>
            </a:r>
          </a:p>
          <a:p>
            <a:r>
              <a:rPr lang="en-IN" dirty="0">
                <a:latin typeface="Times New Roman" panose="02020603050405020304" pitchFamily="18" charset="0"/>
                <a:cs typeface="Times New Roman" panose="02020603050405020304" pitchFamily="18" charset="0"/>
              </a:rPr>
              <a:t>print(</a:t>
            </a:r>
            <a:r>
              <a:rPr lang="en-IN" dirty="0" err="1">
                <a:latin typeface="Times New Roman" panose="02020603050405020304" pitchFamily="18" charset="0"/>
                <a:cs typeface="Times New Roman" panose="02020603050405020304" pitchFamily="18" charset="0"/>
              </a:rPr>
              <a:t>df.head</a:t>
            </a:r>
            <a:r>
              <a:rPr lang="en-IN" dirty="0">
                <a:latin typeface="Times New Roman" panose="02020603050405020304" pitchFamily="18" charset="0"/>
                <a:cs typeface="Times New Roman" panose="02020603050405020304" pitchFamily="18" charset="0"/>
              </a:rPr>
              <a:t>())</a:t>
            </a:r>
          </a:p>
          <a:p>
            <a:endParaRPr lang="en-IN" dirty="0">
              <a:latin typeface="Times New Roman" panose="02020603050405020304" pitchFamily="18" charset="0"/>
              <a:cs typeface="Times New Roman" panose="02020603050405020304" pitchFamily="18" charset="0"/>
            </a:endParaRPr>
          </a:p>
          <a:p>
            <a:r>
              <a:rPr lang="en-IN" dirty="0">
                <a:latin typeface="Times New Roman" panose="02020603050405020304" pitchFamily="18" charset="0"/>
                <a:cs typeface="Times New Roman" panose="02020603050405020304" pitchFamily="18" charset="0"/>
              </a:rPr>
              <a:t># Step 4: Dataset Information</a:t>
            </a:r>
          </a:p>
          <a:p>
            <a:endParaRPr lang="en-IN" dirty="0">
              <a:latin typeface="Times New Roman" panose="02020603050405020304" pitchFamily="18" charset="0"/>
              <a:cs typeface="Times New Roman" panose="02020603050405020304" pitchFamily="18" charset="0"/>
            </a:endParaRPr>
          </a:p>
          <a:p>
            <a:endParaRPr lang="en-IN" dirty="0">
              <a:latin typeface="Times New Roman" panose="02020603050405020304" pitchFamily="18" charset="0"/>
              <a:cs typeface="Times New Roman" panose="02020603050405020304" pitchFamily="18" charset="0"/>
            </a:endParaRPr>
          </a:p>
        </p:txBody>
      </p:sp>
      <p:sp>
        <p:nvSpPr>
          <p:cNvPr id="4" name="TextBox 3">
            <a:extLst>
              <a:ext uri="{FF2B5EF4-FFF2-40B4-BE49-F238E27FC236}">
                <a16:creationId xmlns:a16="http://schemas.microsoft.com/office/drawing/2014/main" id="{85B4B53E-FD8C-ED2F-E7AC-B229DE8026CB}"/>
              </a:ext>
            </a:extLst>
          </p:cNvPr>
          <p:cNvSpPr txBox="1"/>
          <p:nvPr/>
        </p:nvSpPr>
        <p:spPr>
          <a:xfrm>
            <a:off x="1446196" y="61540"/>
            <a:ext cx="8002604" cy="769441"/>
          </a:xfrm>
          <a:prstGeom prst="rect">
            <a:avLst/>
          </a:prstGeom>
          <a:noFill/>
        </p:spPr>
        <p:txBody>
          <a:bodyPr wrap="square" rtlCol="0">
            <a:spAutoFit/>
          </a:bodyPr>
          <a:lstStyle/>
          <a:p>
            <a:r>
              <a:rPr lang="en-IN" sz="4400" dirty="0">
                <a:latin typeface="Times New Roman" panose="02020603050405020304" pitchFamily="18" charset="0"/>
                <a:cs typeface="Times New Roman" panose="02020603050405020304" pitchFamily="18" charset="0"/>
              </a:rPr>
              <a:t>PYTHON IMPLEMENTATION</a:t>
            </a:r>
          </a:p>
        </p:txBody>
      </p:sp>
    </p:spTree>
    <p:extLst>
      <p:ext uri="{BB962C8B-B14F-4D97-AF65-F5344CB8AC3E}">
        <p14:creationId xmlns:p14="http://schemas.microsoft.com/office/powerpoint/2010/main" val="203322467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8A5121FC-D216-675A-5695-3C2DC20CAFE1}"/>
              </a:ext>
            </a:extLst>
          </p:cNvPr>
          <p:cNvSpPr txBox="1"/>
          <p:nvPr/>
        </p:nvSpPr>
        <p:spPr>
          <a:xfrm>
            <a:off x="2157663" y="60960"/>
            <a:ext cx="7876674" cy="6740307"/>
          </a:xfrm>
          <a:prstGeom prst="rect">
            <a:avLst/>
          </a:prstGeom>
          <a:noFill/>
        </p:spPr>
        <p:txBody>
          <a:bodyPr wrap="square" rtlCol="0">
            <a:spAutoFit/>
          </a:bodyPr>
          <a:lstStyle/>
          <a:p>
            <a:r>
              <a:rPr lang="en-IN" dirty="0">
                <a:latin typeface="Times New Roman" panose="02020603050405020304" pitchFamily="18" charset="0"/>
                <a:cs typeface="Times New Roman" panose="02020603050405020304" pitchFamily="18" charset="0"/>
              </a:rPr>
              <a:t>print("\</a:t>
            </a:r>
            <a:r>
              <a:rPr lang="en-IN" dirty="0" err="1">
                <a:latin typeface="Times New Roman" panose="02020603050405020304" pitchFamily="18" charset="0"/>
                <a:cs typeface="Times New Roman" panose="02020603050405020304" pitchFamily="18" charset="0"/>
              </a:rPr>
              <a:t>nDataset</a:t>
            </a:r>
            <a:r>
              <a:rPr lang="en-IN" dirty="0">
                <a:latin typeface="Times New Roman" panose="02020603050405020304" pitchFamily="18" charset="0"/>
                <a:cs typeface="Times New Roman" panose="02020603050405020304" pitchFamily="18" charset="0"/>
              </a:rPr>
              <a:t> Information")</a:t>
            </a:r>
          </a:p>
          <a:p>
            <a:r>
              <a:rPr lang="en-IN" dirty="0">
                <a:latin typeface="Times New Roman" panose="02020603050405020304" pitchFamily="18" charset="0"/>
                <a:cs typeface="Times New Roman" panose="02020603050405020304" pitchFamily="18" charset="0"/>
              </a:rPr>
              <a:t>print(df.info())</a:t>
            </a:r>
          </a:p>
          <a:p>
            <a:endParaRPr lang="en-IN" dirty="0">
              <a:latin typeface="Times New Roman" panose="02020603050405020304" pitchFamily="18" charset="0"/>
              <a:cs typeface="Times New Roman" panose="02020603050405020304" pitchFamily="18" charset="0"/>
            </a:endParaRPr>
          </a:p>
          <a:p>
            <a:r>
              <a:rPr lang="en-IN" dirty="0">
                <a:latin typeface="Times New Roman" panose="02020603050405020304" pitchFamily="18" charset="0"/>
                <a:cs typeface="Times New Roman" panose="02020603050405020304" pitchFamily="18" charset="0"/>
              </a:rPr>
              <a:t># Step 5: Dataset Shape</a:t>
            </a:r>
          </a:p>
          <a:p>
            <a:endParaRPr lang="en-IN" dirty="0">
              <a:latin typeface="Times New Roman" panose="02020603050405020304" pitchFamily="18" charset="0"/>
              <a:cs typeface="Times New Roman" panose="02020603050405020304" pitchFamily="18" charset="0"/>
            </a:endParaRPr>
          </a:p>
          <a:p>
            <a:r>
              <a:rPr lang="en-IN" dirty="0">
                <a:latin typeface="Times New Roman" panose="02020603050405020304" pitchFamily="18" charset="0"/>
                <a:cs typeface="Times New Roman" panose="02020603050405020304" pitchFamily="18" charset="0"/>
              </a:rPr>
              <a:t>print("\</a:t>
            </a:r>
            <a:r>
              <a:rPr lang="en-IN" dirty="0" err="1">
                <a:latin typeface="Times New Roman" panose="02020603050405020304" pitchFamily="18" charset="0"/>
                <a:cs typeface="Times New Roman" panose="02020603050405020304" pitchFamily="18" charset="0"/>
              </a:rPr>
              <a:t>nRows</a:t>
            </a:r>
            <a:r>
              <a:rPr lang="en-IN" dirty="0">
                <a:latin typeface="Times New Roman" panose="02020603050405020304" pitchFamily="18" charset="0"/>
                <a:cs typeface="Times New Roman" panose="02020603050405020304" pitchFamily="18" charset="0"/>
              </a:rPr>
              <a:t> and Columns")</a:t>
            </a:r>
          </a:p>
          <a:p>
            <a:r>
              <a:rPr lang="en-IN" dirty="0">
                <a:latin typeface="Times New Roman" panose="02020603050405020304" pitchFamily="18" charset="0"/>
                <a:cs typeface="Times New Roman" panose="02020603050405020304" pitchFamily="18" charset="0"/>
              </a:rPr>
              <a:t>print(</a:t>
            </a:r>
            <a:r>
              <a:rPr lang="en-IN" dirty="0" err="1">
                <a:latin typeface="Times New Roman" panose="02020603050405020304" pitchFamily="18" charset="0"/>
                <a:cs typeface="Times New Roman" panose="02020603050405020304" pitchFamily="18" charset="0"/>
              </a:rPr>
              <a:t>df.shape</a:t>
            </a:r>
            <a:r>
              <a:rPr lang="en-IN" dirty="0">
                <a:latin typeface="Times New Roman" panose="02020603050405020304" pitchFamily="18" charset="0"/>
                <a:cs typeface="Times New Roman" panose="02020603050405020304" pitchFamily="18" charset="0"/>
              </a:rPr>
              <a:t>)</a:t>
            </a:r>
          </a:p>
          <a:p>
            <a:endParaRPr lang="en-IN" dirty="0">
              <a:latin typeface="Times New Roman" panose="02020603050405020304" pitchFamily="18" charset="0"/>
              <a:cs typeface="Times New Roman" panose="02020603050405020304" pitchFamily="18" charset="0"/>
            </a:endParaRPr>
          </a:p>
          <a:p>
            <a:r>
              <a:rPr lang="en-IN" dirty="0">
                <a:latin typeface="Times New Roman" panose="02020603050405020304" pitchFamily="18" charset="0"/>
                <a:cs typeface="Times New Roman" panose="02020603050405020304" pitchFamily="18" charset="0"/>
              </a:rPr>
              <a:t># Step 6: Check Missing Values</a:t>
            </a:r>
          </a:p>
          <a:p>
            <a:endParaRPr lang="en-IN" dirty="0">
              <a:latin typeface="Times New Roman" panose="02020603050405020304" pitchFamily="18" charset="0"/>
              <a:cs typeface="Times New Roman" panose="02020603050405020304" pitchFamily="18" charset="0"/>
            </a:endParaRPr>
          </a:p>
          <a:p>
            <a:r>
              <a:rPr lang="en-IN" dirty="0">
                <a:latin typeface="Times New Roman" panose="02020603050405020304" pitchFamily="18" charset="0"/>
                <a:cs typeface="Times New Roman" panose="02020603050405020304" pitchFamily="18" charset="0"/>
              </a:rPr>
              <a:t>print("\</a:t>
            </a:r>
            <a:r>
              <a:rPr lang="en-IN" dirty="0" err="1">
                <a:latin typeface="Times New Roman" panose="02020603050405020304" pitchFamily="18" charset="0"/>
                <a:cs typeface="Times New Roman" panose="02020603050405020304" pitchFamily="18" charset="0"/>
              </a:rPr>
              <a:t>nMissing</a:t>
            </a:r>
            <a:r>
              <a:rPr lang="en-IN" dirty="0">
                <a:latin typeface="Times New Roman" panose="02020603050405020304" pitchFamily="18" charset="0"/>
                <a:cs typeface="Times New Roman" panose="02020603050405020304" pitchFamily="18" charset="0"/>
              </a:rPr>
              <a:t> Values")</a:t>
            </a:r>
          </a:p>
          <a:p>
            <a:r>
              <a:rPr lang="en-IN" dirty="0">
                <a:latin typeface="Times New Roman" panose="02020603050405020304" pitchFamily="18" charset="0"/>
                <a:cs typeface="Times New Roman" panose="02020603050405020304" pitchFamily="18" charset="0"/>
              </a:rPr>
              <a:t>print(</a:t>
            </a:r>
            <a:r>
              <a:rPr lang="en-IN" dirty="0" err="1">
                <a:latin typeface="Times New Roman" panose="02020603050405020304" pitchFamily="18" charset="0"/>
                <a:cs typeface="Times New Roman" panose="02020603050405020304" pitchFamily="18" charset="0"/>
              </a:rPr>
              <a:t>df.isnull</a:t>
            </a:r>
            <a:r>
              <a:rPr lang="en-IN" dirty="0">
                <a:latin typeface="Times New Roman" panose="02020603050405020304" pitchFamily="18" charset="0"/>
                <a:cs typeface="Times New Roman" panose="02020603050405020304" pitchFamily="18" charset="0"/>
              </a:rPr>
              <a:t>().sum())</a:t>
            </a:r>
          </a:p>
          <a:p>
            <a:endParaRPr lang="en-IN" dirty="0">
              <a:latin typeface="Times New Roman" panose="02020603050405020304" pitchFamily="18" charset="0"/>
              <a:cs typeface="Times New Roman" panose="02020603050405020304" pitchFamily="18" charset="0"/>
            </a:endParaRPr>
          </a:p>
          <a:p>
            <a:r>
              <a:rPr lang="en-IN" dirty="0">
                <a:latin typeface="Times New Roman" panose="02020603050405020304" pitchFamily="18" charset="0"/>
                <a:cs typeface="Times New Roman" panose="02020603050405020304" pitchFamily="18" charset="0"/>
              </a:rPr>
              <a:t># Step 7: Calculate Missing Percentage</a:t>
            </a:r>
          </a:p>
          <a:p>
            <a:endParaRPr lang="en-IN" dirty="0">
              <a:latin typeface="Times New Roman" panose="02020603050405020304" pitchFamily="18" charset="0"/>
              <a:cs typeface="Times New Roman" panose="02020603050405020304" pitchFamily="18" charset="0"/>
            </a:endParaRPr>
          </a:p>
          <a:p>
            <a:r>
              <a:rPr lang="en-IN" dirty="0" err="1">
                <a:latin typeface="Times New Roman" panose="02020603050405020304" pitchFamily="18" charset="0"/>
                <a:cs typeface="Times New Roman" panose="02020603050405020304" pitchFamily="18" charset="0"/>
              </a:rPr>
              <a:t>missing_percentage</a:t>
            </a:r>
            <a:r>
              <a:rPr lang="en-IN" dirty="0">
                <a:latin typeface="Times New Roman" panose="02020603050405020304" pitchFamily="18" charset="0"/>
                <a:cs typeface="Times New Roman" panose="02020603050405020304" pitchFamily="18" charset="0"/>
              </a:rPr>
              <a:t> = (</a:t>
            </a:r>
            <a:r>
              <a:rPr lang="en-IN" dirty="0" err="1">
                <a:latin typeface="Times New Roman" panose="02020603050405020304" pitchFamily="18" charset="0"/>
                <a:cs typeface="Times New Roman" panose="02020603050405020304" pitchFamily="18" charset="0"/>
              </a:rPr>
              <a:t>df.isnull</a:t>
            </a:r>
            <a:r>
              <a:rPr lang="en-IN" dirty="0">
                <a:latin typeface="Times New Roman" panose="02020603050405020304" pitchFamily="18" charset="0"/>
                <a:cs typeface="Times New Roman" panose="02020603050405020304" pitchFamily="18" charset="0"/>
              </a:rPr>
              <a:t>().sum() / </a:t>
            </a:r>
            <a:r>
              <a:rPr lang="en-IN" dirty="0" err="1">
                <a:latin typeface="Times New Roman" panose="02020603050405020304" pitchFamily="18" charset="0"/>
                <a:cs typeface="Times New Roman" panose="02020603050405020304" pitchFamily="18" charset="0"/>
              </a:rPr>
              <a:t>len</a:t>
            </a:r>
            <a:r>
              <a:rPr lang="en-IN" dirty="0">
                <a:latin typeface="Times New Roman" panose="02020603050405020304" pitchFamily="18" charset="0"/>
                <a:cs typeface="Times New Roman" panose="02020603050405020304" pitchFamily="18" charset="0"/>
              </a:rPr>
              <a:t>(</a:t>
            </a:r>
            <a:r>
              <a:rPr lang="en-IN" dirty="0" err="1">
                <a:latin typeface="Times New Roman" panose="02020603050405020304" pitchFamily="18" charset="0"/>
                <a:cs typeface="Times New Roman" panose="02020603050405020304" pitchFamily="18" charset="0"/>
              </a:rPr>
              <a:t>df</a:t>
            </a:r>
            <a:r>
              <a:rPr lang="en-IN" dirty="0">
                <a:latin typeface="Times New Roman" panose="02020603050405020304" pitchFamily="18" charset="0"/>
                <a:cs typeface="Times New Roman" panose="02020603050405020304" pitchFamily="18" charset="0"/>
              </a:rPr>
              <a:t>)) * 100</a:t>
            </a:r>
          </a:p>
          <a:p>
            <a:endParaRPr lang="en-IN" dirty="0">
              <a:latin typeface="Times New Roman" panose="02020603050405020304" pitchFamily="18" charset="0"/>
              <a:cs typeface="Times New Roman" panose="02020603050405020304" pitchFamily="18" charset="0"/>
            </a:endParaRPr>
          </a:p>
          <a:p>
            <a:r>
              <a:rPr lang="en-IN" dirty="0">
                <a:latin typeface="Times New Roman" panose="02020603050405020304" pitchFamily="18" charset="0"/>
                <a:cs typeface="Times New Roman" panose="02020603050405020304" pitchFamily="18" charset="0"/>
              </a:rPr>
              <a:t>print("\</a:t>
            </a:r>
            <a:r>
              <a:rPr lang="en-IN" dirty="0" err="1">
                <a:latin typeface="Times New Roman" panose="02020603050405020304" pitchFamily="18" charset="0"/>
                <a:cs typeface="Times New Roman" panose="02020603050405020304" pitchFamily="18" charset="0"/>
              </a:rPr>
              <a:t>nMissing</a:t>
            </a:r>
            <a:r>
              <a:rPr lang="en-IN" dirty="0">
                <a:latin typeface="Times New Roman" panose="02020603050405020304" pitchFamily="18" charset="0"/>
                <a:cs typeface="Times New Roman" panose="02020603050405020304" pitchFamily="18" charset="0"/>
              </a:rPr>
              <a:t> Percentage")</a:t>
            </a:r>
          </a:p>
          <a:p>
            <a:r>
              <a:rPr lang="en-IN" dirty="0">
                <a:latin typeface="Times New Roman" panose="02020603050405020304" pitchFamily="18" charset="0"/>
                <a:cs typeface="Times New Roman" panose="02020603050405020304" pitchFamily="18" charset="0"/>
              </a:rPr>
              <a:t>print(</a:t>
            </a:r>
            <a:r>
              <a:rPr lang="en-IN" dirty="0" err="1">
                <a:latin typeface="Times New Roman" panose="02020603050405020304" pitchFamily="18" charset="0"/>
                <a:cs typeface="Times New Roman" panose="02020603050405020304" pitchFamily="18" charset="0"/>
              </a:rPr>
              <a:t>missing_percentage</a:t>
            </a:r>
            <a:r>
              <a:rPr lang="en-IN" dirty="0">
                <a:latin typeface="Times New Roman" panose="02020603050405020304" pitchFamily="18" charset="0"/>
                <a:cs typeface="Times New Roman" panose="02020603050405020304" pitchFamily="18" charset="0"/>
              </a:rPr>
              <a:t>)</a:t>
            </a:r>
          </a:p>
          <a:p>
            <a:endParaRPr lang="en-IN" dirty="0">
              <a:latin typeface="Times New Roman" panose="02020603050405020304" pitchFamily="18" charset="0"/>
              <a:cs typeface="Times New Roman" panose="02020603050405020304" pitchFamily="18" charset="0"/>
            </a:endParaRPr>
          </a:p>
          <a:p>
            <a:r>
              <a:rPr lang="en-IN" dirty="0">
                <a:latin typeface="Times New Roman" panose="02020603050405020304" pitchFamily="18" charset="0"/>
                <a:cs typeface="Times New Roman" panose="02020603050405020304" pitchFamily="18" charset="0"/>
              </a:rPr>
              <a:t># Step 8: Handle Missing Values</a:t>
            </a:r>
          </a:p>
          <a:p>
            <a:endParaRPr lang="en-IN" dirty="0">
              <a:latin typeface="Times New Roman" panose="02020603050405020304" pitchFamily="18" charset="0"/>
              <a:cs typeface="Times New Roman" panose="02020603050405020304" pitchFamily="18" charset="0"/>
            </a:endParaRPr>
          </a:p>
          <a:p>
            <a:r>
              <a:rPr lang="en-IN" dirty="0" err="1">
                <a:latin typeface="Times New Roman" panose="02020603050405020304" pitchFamily="18" charset="0"/>
                <a:cs typeface="Times New Roman" panose="02020603050405020304" pitchFamily="18" charset="0"/>
              </a:rPr>
              <a:t>df</a:t>
            </a:r>
            <a:r>
              <a:rPr lang="en-IN" dirty="0">
                <a:latin typeface="Times New Roman" panose="02020603050405020304" pitchFamily="18" charset="0"/>
                <a:cs typeface="Times New Roman" panose="02020603050405020304" pitchFamily="18" charset="0"/>
              </a:rPr>
              <a:t>['brand'].</a:t>
            </a:r>
            <a:r>
              <a:rPr lang="en-IN" dirty="0" err="1">
                <a:latin typeface="Times New Roman" panose="02020603050405020304" pitchFamily="18" charset="0"/>
                <a:cs typeface="Times New Roman" panose="02020603050405020304" pitchFamily="18" charset="0"/>
              </a:rPr>
              <a:t>fillna</a:t>
            </a:r>
            <a:r>
              <a:rPr lang="en-IN" dirty="0">
                <a:latin typeface="Times New Roman" panose="02020603050405020304" pitchFamily="18" charset="0"/>
                <a:cs typeface="Times New Roman" panose="02020603050405020304" pitchFamily="18" charset="0"/>
              </a:rPr>
              <a:t>('Unknown', </a:t>
            </a:r>
            <a:r>
              <a:rPr lang="en-IN" dirty="0" err="1">
                <a:latin typeface="Times New Roman" panose="02020603050405020304" pitchFamily="18" charset="0"/>
                <a:cs typeface="Times New Roman" panose="02020603050405020304" pitchFamily="18" charset="0"/>
              </a:rPr>
              <a:t>inplace</a:t>
            </a:r>
            <a:r>
              <a:rPr lang="en-IN" dirty="0">
                <a:latin typeface="Times New Roman" panose="02020603050405020304" pitchFamily="18" charset="0"/>
                <a:cs typeface="Times New Roman" panose="02020603050405020304" pitchFamily="18" charset="0"/>
              </a:rPr>
              <a:t>=True)</a:t>
            </a:r>
          </a:p>
          <a:p>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01544336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91E98BAC-28AE-7390-78BE-62E2E9457EDC}"/>
              </a:ext>
            </a:extLst>
          </p:cNvPr>
          <p:cNvSpPr txBox="1"/>
          <p:nvPr/>
        </p:nvSpPr>
        <p:spPr>
          <a:xfrm>
            <a:off x="1676400" y="30480"/>
            <a:ext cx="8839200" cy="7294305"/>
          </a:xfrm>
          <a:prstGeom prst="rect">
            <a:avLst/>
          </a:prstGeom>
          <a:noFill/>
        </p:spPr>
        <p:txBody>
          <a:bodyPr wrap="square" rtlCol="0">
            <a:spAutoFit/>
          </a:bodyPr>
          <a:lstStyle/>
          <a:p>
            <a:r>
              <a:rPr lang="en-IN" dirty="0" err="1">
                <a:latin typeface="Times New Roman" panose="02020603050405020304" pitchFamily="18" charset="0"/>
                <a:cs typeface="Times New Roman" panose="02020603050405020304" pitchFamily="18" charset="0"/>
              </a:rPr>
              <a:t>df</a:t>
            </a:r>
            <a:r>
              <a:rPr lang="en-IN" dirty="0">
                <a:latin typeface="Times New Roman" panose="02020603050405020304" pitchFamily="18" charset="0"/>
                <a:cs typeface="Times New Roman" panose="02020603050405020304" pitchFamily="18" charset="0"/>
              </a:rPr>
              <a:t>['</a:t>
            </a:r>
            <a:r>
              <a:rPr lang="en-IN" dirty="0" err="1">
                <a:latin typeface="Times New Roman" panose="02020603050405020304" pitchFamily="18" charset="0"/>
                <a:cs typeface="Times New Roman" panose="02020603050405020304" pitchFamily="18" charset="0"/>
              </a:rPr>
              <a:t>category_code</a:t>
            </a:r>
            <a:r>
              <a:rPr lang="en-IN" dirty="0">
                <a:latin typeface="Times New Roman" panose="02020603050405020304" pitchFamily="18" charset="0"/>
                <a:cs typeface="Times New Roman" panose="02020603050405020304" pitchFamily="18" charset="0"/>
              </a:rPr>
              <a:t>'].</a:t>
            </a:r>
            <a:r>
              <a:rPr lang="en-IN" dirty="0" err="1">
                <a:latin typeface="Times New Roman" panose="02020603050405020304" pitchFamily="18" charset="0"/>
                <a:cs typeface="Times New Roman" panose="02020603050405020304" pitchFamily="18" charset="0"/>
              </a:rPr>
              <a:t>fillna</a:t>
            </a:r>
            <a:r>
              <a:rPr lang="en-IN" dirty="0">
                <a:latin typeface="Times New Roman" panose="02020603050405020304" pitchFamily="18" charset="0"/>
                <a:cs typeface="Times New Roman" panose="02020603050405020304" pitchFamily="18" charset="0"/>
              </a:rPr>
              <a:t>('Not Available', </a:t>
            </a:r>
            <a:r>
              <a:rPr lang="en-IN" dirty="0" err="1">
                <a:latin typeface="Times New Roman" panose="02020603050405020304" pitchFamily="18" charset="0"/>
                <a:cs typeface="Times New Roman" panose="02020603050405020304" pitchFamily="18" charset="0"/>
              </a:rPr>
              <a:t>inplace</a:t>
            </a:r>
            <a:r>
              <a:rPr lang="en-IN" dirty="0">
                <a:latin typeface="Times New Roman" panose="02020603050405020304" pitchFamily="18" charset="0"/>
                <a:cs typeface="Times New Roman" panose="02020603050405020304" pitchFamily="18" charset="0"/>
              </a:rPr>
              <a:t>=True)</a:t>
            </a:r>
          </a:p>
          <a:p>
            <a:endParaRPr lang="en-IN" dirty="0">
              <a:latin typeface="Times New Roman" panose="02020603050405020304" pitchFamily="18" charset="0"/>
              <a:cs typeface="Times New Roman" panose="02020603050405020304" pitchFamily="18" charset="0"/>
            </a:endParaRPr>
          </a:p>
          <a:p>
            <a:r>
              <a:rPr lang="en-IN" dirty="0">
                <a:latin typeface="Times New Roman" panose="02020603050405020304" pitchFamily="18" charset="0"/>
                <a:cs typeface="Times New Roman" panose="02020603050405020304" pitchFamily="18" charset="0"/>
              </a:rPr>
              <a:t># Step 9: Check Duplicate Records</a:t>
            </a:r>
          </a:p>
          <a:p>
            <a:endParaRPr lang="en-IN" dirty="0">
              <a:latin typeface="Times New Roman" panose="02020603050405020304" pitchFamily="18" charset="0"/>
              <a:cs typeface="Times New Roman" panose="02020603050405020304" pitchFamily="18" charset="0"/>
            </a:endParaRPr>
          </a:p>
          <a:p>
            <a:r>
              <a:rPr lang="en-IN" dirty="0">
                <a:latin typeface="Times New Roman" panose="02020603050405020304" pitchFamily="18" charset="0"/>
                <a:cs typeface="Times New Roman" panose="02020603050405020304" pitchFamily="18" charset="0"/>
              </a:rPr>
              <a:t>duplicates = </a:t>
            </a:r>
            <a:r>
              <a:rPr lang="en-IN" dirty="0" err="1">
                <a:latin typeface="Times New Roman" panose="02020603050405020304" pitchFamily="18" charset="0"/>
                <a:cs typeface="Times New Roman" panose="02020603050405020304" pitchFamily="18" charset="0"/>
              </a:rPr>
              <a:t>df.duplicated</a:t>
            </a:r>
            <a:r>
              <a:rPr lang="en-IN" dirty="0">
                <a:latin typeface="Times New Roman" panose="02020603050405020304" pitchFamily="18" charset="0"/>
                <a:cs typeface="Times New Roman" panose="02020603050405020304" pitchFamily="18" charset="0"/>
              </a:rPr>
              <a:t>().sum()</a:t>
            </a:r>
          </a:p>
          <a:p>
            <a:endParaRPr lang="en-IN" dirty="0">
              <a:latin typeface="Times New Roman" panose="02020603050405020304" pitchFamily="18" charset="0"/>
              <a:cs typeface="Times New Roman" panose="02020603050405020304" pitchFamily="18" charset="0"/>
            </a:endParaRPr>
          </a:p>
          <a:p>
            <a:r>
              <a:rPr lang="en-IN" dirty="0">
                <a:latin typeface="Times New Roman" panose="02020603050405020304" pitchFamily="18" charset="0"/>
                <a:cs typeface="Times New Roman" panose="02020603050405020304" pitchFamily="18" charset="0"/>
              </a:rPr>
              <a:t>print("\</a:t>
            </a:r>
            <a:r>
              <a:rPr lang="en-IN" dirty="0" err="1">
                <a:latin typeface="Times New Roman" panose="02020603050405020304" pitchFamily="18" charset="0"/>
                <a:cs typeface="Times New Roman" panose="02020603050405020304" pitchFamily="18" charset="0"/>
              </a:rPr>
              <a:t>nDuplicate</a:t>
            </a:r>
            <a:r>
              <a:rPr lang="en-IN" dirty="0">
                <a:latin typeface="Times New Roman" panose="02020603050405020304" pitchFamily="18" charset="0"/>
                <a:cs typeface="Times New Roman" panose="02020603050405020304" pitchFamily="18" charset="0"/>
              </a:rPr>
              <a:t> Records =", duplicates)</a:t>
            </a:r>
          </a:p>
          <a:p>
            <a:endParaRPr lang="en-IN" dirty="0">
              <a:latin typeface="Times New Roman" panose="02020603050405020304" pitchFamily="18" charset="0"/>
              <a:cs typeface="Times New Roman" panose="02020603050405020304" pitchFamily="18" charset="0"/>
            </a:endParaRPr>
          </a:p>
          <a:p>
            <a:r>
              <a:rPr lang="en-IN" dirty="0">
                <a:latin typeface="Times New Roman" panose="02020603050405020304" pitchFamily="18" charset="0"/>
                <a:cs typeface="Times New Roman" panose="02020603050405020304" pitchFamily="18" charset="0"/>
              </a:rPr>
              <a:t># Step 10: Remove Duplicates</a:t>
            </a:r>
          </a:p>
          <a:p>
            <a:endParaRPr lang="en-IN" dirty="0">
              <a:latin typeface="Times New Roman" panose="02020603050405020304" pitchFamily="18" charset="0"/>
              <a:cs typeface="Times New Roman" panose="02020603050405020304" pitchFamily="18" charset="0"/>
            </a:endParaRPr>
          </a:p>
          <a:p>
            <a:r>
              <a:rPr lang="en-IN" dirty="0" err="1">
                <a:latin typeface="Times New Roman" panose="02020603050405020304" pitchFamily="18" charset="0"/>
                <a:cs typeface="Times New Roman" panose="02020603050405020304" pitchFamily="18" charset="0"/>
              </a:rPr>
              <a:t>df.drop_duplicates</a:t>
            </a:r>
            <a:r>
              <a:rPr lang="en-IN" dirty="0">
                <a:latin typeface="Times New Roman" panose="02020603050405020304" pitchFamily="18" charset="0"/>
                <a:cs typeface="Times New Roman" panose="02020603050405020304" pitchFamily="18" charset="0"/>
              </a:rPr>
              <a:t>(</a:t>
            </a:r>
            <a:r>
              <a:rPr lang="en-IN" dirty="0" err="1">
                <a:latin typeface="Times New Roman" panose="02020603050405020304" pitchFamily="18" charset="0"/>
                <a:cs typeface="Times New Roman" panose="02020603050405020304" pitchFamily="18" charset="0"/>
              </a:rPr>
              <a:t>inplace</a:t>
            </a:r>
            <a:r>
              <a:rPr lang="en-IN" dirty="0">
                <a:latin typeface="Times New Roman" panose="02020603050405020304" pitchFamily="18" charset="0"/>
                <a:cs typeface="Times New Roman" panose="02020603050405020304" pitchFamily="18" charset="0"/>
              </a:rPr>
              <a:t>=True)</a:t>
            </a:r>
          </a:p>
          <a:p>
            <a:endParaRPr lang="en-IN" dirty="0">
              <a:latin typeface="Times New Roman" panose="02020603050405020304" pitchFamily="18" charset="0"/>
              <a:cs typeface="Times New Roman" panose="02020603050405020304" pitchFamily="18" charset="0"/>
            </a:endParaRPr>
          </a:p>
          <a:p>
            <a:r>
              <a:rPr lang="en-IN" dirty="0">
                <a:latin typeface="Times New Roman" panose="02020603050405020304" pitchFamily="18" charset="0"/>
                <a:cs typeface="Times New Roman" panose="02020603050405020304" pitchFamily="18" charset="0"/>
              </a:rPr>
              <a:t>print("\</a:t>
            </a:r>
            <a:r>
              <a:rPr lang="en-IN" dirty="0" err="1">
                <a:latin typeface="Times New Roman" panose="02020603050405020304" pitchFamily="18" charset="0"/>
                <a:cs typeface="Times New Roman" panose="02020603050405020304" pitchFamily="18" charset="0"/>
              </a:rPr>
              <a:t>nDataset</a:t>
            </a:r>
            <a:r>
              <a:rPr lang="en-IN" dirty="0">
                <a:latin typeface="Times New Roman" panose="02020603050405020304" pitchFamily="18" charset="0"/>
                <a:cs typeface="Times New Roman" panose="02020603050405020304" pitchFamily="18" charset="0"/>
              </a:rPr>
              <a:t> Shape After Removing Duplicates")</a:t>
            </a:r>
          </a:p>
          <a:p>
            <a:r>
              <a:rPr lang="en-IN" dirty="0">
                <a:latin typeface="Times New Roman" panose="02020603050405020304" pitchFamily="18" charset="0"/>
                <a:cs typeface="Times New Roman" panose="02020603050405020304" pitchFamily="18" charset="0"/>
              </a:rPr>
              <a:t>print(</a:t>
            </a:r>
            <a:r>
              <a:rPr lang="en-IN" dirty="0" err="1">
                <a:latin typeface="Times New Roman" panose="02020603050405020304" pitchFamily="18" charset="0"/>
                <a:cs typeface="Times New Roman" panose="02020603050405020304" pitchFamily="18" charset="0"/>
              </a:rPr>
              <a:t>df.shape</a:t>
            </a:r>
            <a:r>
              <a:rPr lang="en-IN" dirty="0">
                <a:latin typeface="Times New Roman" panose="02020603050405020304" pitchFamily="18" charset="0"/>
                <a:cs typeface="Times New Roman" panose="02020603050405020304" pitchFamily="18" charset="0"/>
              </a:rPr>
              <a:t>)</a:t>
            </a:r>
          </a:p>
          <a:p>
            <a:endParaRPr lang="en-IN" dirty="0">
              <a:latin typeface="Times New Roman" panose="02020603050405020304" pitchFamily="18" charset="0"/>
              <a:cs typeface="Times New Roman" panose="02020603050405020304" pitchFamily="18" charset="0"/>
            </a:endParaRPr>
          </a:p>
          <a:p>
            <a:r>
              <a:rPr lang="en-IN" dirty="0">
                <a:latin typeface="Times New Roman" panose="02020603050405020304" pitchFamily="18" charset="0"/>
                <a:cs typeface="Times New Roman" panose="02020603050405020304" pitchFamily="18" charset="0"/>
              </a:rPr>
              <a:t># Step 11: Detect Outliers Using IQR</a:t>
            </a:r>
          </a:p>
          <a:p>
            <a:endParaRPr lang="en-IN" dirty="0">
              <a:latin typeface="Times New Roman" panose="02020603050405020304" pitchFamily="18" charset="0"/>
              <a:cs typeface="Times New Roman" panose="02020603050405020304" pitchFamily="18" charset="0"/>
            </a:endParaRPr>
          </a:p>
          <a:p>
            <a:r>
              <a:rPr lang="en-IN" dirty="0">
                <a:latin typeface="Times New Roman" panose="02020603050405020304" pitchFamily="18" charset="0"/>
                <a:cs typeface="Times New Roman" panose="02020603050405020304" pitchFamily="18" charset="0"/>
              </a:rPr>
              <a:t>Q1 = </a:t>
            </a:r>
            <a:r>
              <a:rPr lang="en-IN" dirty="0" err="1">
                <a:latin typeface="Times New Roman" panose="02020603050405020304" pitchFamily="18" charset="0"/>
                <a:cs typeface="Times New Roman" panose="02020603050405020304" pitchFamily="18" charset="0"/>
              </a:rPr>
              <a:t>df</a:t>
            </a:r>
            <a:r>
              <a:rPr lang="en-IN" dirty="0">
                <a:latin typeface="Times New Roman" panose="02020603050405020304" pitchFamily="18" charset="0"/>
                <a:cs typeface="Times New Roman" panose="02020603050405020304" pitchFamily="18" charset="0"/>
              </a:rPr>
              <a:t>['price'].quantile(0.25)</a:t>
            </a:r>
          </a:p>
          <a:p>
            <a:endParaRPr lang="en-IN" dirty="0">
              <a:latin typeface="Times New Roman" panose="02020603050405020304" pitchFamily="18" charset="0"/>
              <a:cs typeface="Times New Roman" panose="02020603050405020304" pitchFamily="18" charset="0"/>
            </a:endParaRPr>
          </a:p>
          <a:p>
            <a:r>
              <a:rPr lang="en-IN" dirty="0">
                <a:latin typeface="Times New Roman" panose="02020603050405020304" pitchFamily="18" charset="0"/>
                <a:cs typeface="Times New Roman" panose="02020603050405020304" pitchFamily="18" charset="0"/>
              </a:rPr>
              <a:t>Q3 = </a:t>
            </a:r>
            <a:r>
              <a:rPr lang="en-IN" dirty="0" err="1">
                <a:latin typeface="Times New Roman" panose="02020603050405020304" pitchFamily="18" charset="0"/>
                <a:cs typeface="Times New Roman" panose="02020603050405020304" pitchFamily="18" charset="0"/>
              </a:rPr>
              <a:t>df</a:t>
            </a:r>
            <a:r>
              <a:rPr lang="en-IN" dirty="0">
                <a:latin typeface="Times New Roman" panose="02020603050405020304" pitchFamily="18" charset="0"/>
                <a:cs typeface="Times New Roman" panose="02020603050405020304" pitchFamily="18" charset="0"/>
              </a:rPr>
              <a:t>['price'].quantile(0.75)</a:t>
            </a:r>
          </a:p>
          <a:p>
            <a:endParaRPr lang="en-IN" dirty="0">
              <a:latin typeface="Times New Roman" panose="02020603050405020304" pitchFamily="18" charset="0"/>
              <a:cs typeface="Times New Roman" panose="02020603050405020304" pitchFamily="18" charset="0"/>
            </a:endParaRPr>
          </a:p>
          <a:p>
            <a:r>
              <a:rPr lang="en-IN" dirty="0">
                <a:latin typeface="Times New Roman" panose="02020603050405020304" pitchFamily="18" charset="0"/>
                <a:cs typeface="Times New Roman" panose="02020603050405020304" pitchFamily="18" charset="0"/>
              </a:rPr>
              <a:t>IQR = Q3 - Q1</a:t>
            </a:r>
          </a:p>
          <a:p>
            <a:endParaRPr lang="en-IN" dirty="0">
              <a:latin typeface="Times New Roman" panose="02020603050405020304" pitchFamily="18" charset="0"/>
              <a:cs typeface="Times New Roman" panose="02020603050405020304" pitchFamily="18" charset="0"/>
            </a:endParaRPr>
          </a:p>
          <a:p>
            <a:r>
              <a:rPr lang="en-IN" dirty="0" err="1">
                <a:latin typeface="Times New Roman" panose="02020603050405020304" pitchFamily="18" charset="0"/>
                <a:cs typeface="Times New Roman" panose="02020603050405020304" pitchFamily="18" charset="0"/>
              </a:rPr>
              <a:t>lower_bound</a:t>
            </a:r>
            <a:r>
              <a:rPr lang="en-IN" dirty="0">
                <a:latin typeface="Times New Roman" panose="02020603050405020304" pitchFamily="18" charset="0"/>
                <a:cs typeface="Times New Roman" panose="02020603050405020304" pitchFamily="18" charset="0"/>
              </a:rPr>
              <a:t> = Q1 - (1.5 * IQR)</a:t>
            </a:r>
          </a:p>
          <a:p>
            <a:endParaRPr lang="en-IN" dirty="0">
              <a:latin typeface="Times New Roman" panose="02020603050405020304" pitchFamily="18" charset="0"/>
              <a:cs typeface="Times New Roman" panose="02020603050405020304" pitchFamily="18" charset="0"/>
            </a:endParaRPr>
          </a:p>
          <a:p>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88735227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DDA78F98-A464-6439-C676-6996E9A16BB6}"/>
              </a:ext>
            </a:extLst>
          </p:cNvPr>
          <p:cNvSpPr txBox="1"/>
          <p:nvPr/>
        </p:nvSpPr>
        <p:spPr>
          <a:xfrm>
            <a:off x="1554480" y="243840"/>
            <a:ext cx="8305800" cy="6740307"/>
          </a:xfrm>
          <a:prstGeom prst="rect">
            <a:avLst/>
          </a:prstGeom>
          <a:noFill/>
        </p:spPr>
        <p:txBody>
          <a:bodyPr wrap="square" rtlCol="0">
            <a:spAutoFit/>
          </a:bodyPr>
          <a:lstStyle/>
          <a:p>
            <a:r>
              <a:rPr lang="en-IN" dirty="0" err="1">
                <a:latin typeface="Times New Roman" panose="02020603050405020304" pitchFamily="18" charset="0"/>
                <a:cs typeface="Times New Roman" panose="02020603050405020304" pitchFamily="18" charset="0"/>
              </a:rPr>
              <a:t>upper_bound</a:t>
            </a:r>
            <a:r>
              <a:rPr lang="en-IN" dirty="0">
                <a:latin typeface="Times New Roman" panose="02020603050405020304" pitchFamily="18" charset="0"/>
                <a:cs typeface="Times New Roman" panose="02020603050405020304" pitchFamily="18" charset="0"/>
              </a:rPr>
              <a:t> = Q3 + (1.5 * IQR)</a:t>
            </a:r>
          </a:p>
          <a:p>
            <a:endParaRPr lang="en-IN" dirty="0">
              <a:latin typeface="Times New Roman" panose="02020603050405020304" pitchFamily="18" charset="0"/>
              <a:cs typeface="Times New Roman" panose="02020603050405020304" pitchFamily="18" charset="0"/>
            </a:endParaRPr>
          </a:p>
          <a:p>
            <a:r>
              <a:rPr lang="en-IN" dirty="0">
                <a:latin typeface="Times New Roman" panose="02020603050405020304" pitchFamily="18" charset="0"/>
                <a:cs typeface="Times New Roman" panose="02020603050405020304" pitchFamily="18" charset="0"/>
              </a:rPr>
              <a:t>print("\</a:t>
            </a:r>
            <a:r>
              <a:rPr lang="en-IN" dirty="0" err="1">
                <a:latin typeface="Times New Roman" panose="02020603050405020304" pitchFamily="18" charset="0"/>
                <a:cs typeface="Times New Roman" panose="02020603050405020304" pitchFamily="18" charset="0"/>
              </a:rPr>
              <a:t>nLower</a:t>
            </a:r>
            <a:r>
              <a:rPr lang="en-IN" dirty="0">
                <a:latin typeface="Times New Roman" panose="02020603050405020304" pitchFamily="18" charset="0"/>
                <a:cs typeface="Times New Roman" panose="02020603050405020304" pitchFamily="18" charset="0"/>
              </a:rPr>
              <a:t> Bound =", </a:t>
            </a:r>
            <a:r>
              <a:rPr lang="en-IN" dirty="0" err="1">
                <a:latin typeface="Times New Roman" panose="02020603050405020304" pitchFamily="18" charset="0"/>
                <a:cs typeface="Times New Roman" panose="02020603050405020304" pitchFamily="18" charset="0"/>
              </a:rPr>
              <a:t>lower_bound</a:t>
            </a:r>
            <a:r>
              <a:rPr lang="en-IN" dirty="0">
                <a:latin typeface="Times New Roman" panose="02020603050405020304" pitchFamily="18" charset="0"/>
                <a:cs typeface="Times New Roman" panose="02020603050405020304" pitchFamily="18" charset="0"/>
              </a:rPr>
              <a:t>)</a:t>
            </a:r>
          </a:p>
          <a:p>
            <a:endParaRPr lang="en-IN" dirty="0">
              <a:latin typeface="Times New Roman" panose="02020603050405020304" pitchFamily="18" charset="0"/>
              <a:cs typeface="Times New Roman" panose="02020603050405020304" pitchFamily="18" charset="0"/>
            </a:endParaRPr>
          </a:p>
          <a:p>
            <a:r>
              <a:rPr lang="en-IN" dirty="0">
                <a:latin typeface="Times New Roman" panose="02020603050405020304" pitchFamily="18" charset="0"/>
                <a:cs typeface="Times New Roman" panose="02020603050405020304" pitchFamily="18" charset="0"/>
              </a:rPr>
              <a:t>print("Upper Bound =", </a:t>
            </a:r>
            <a:r>
              <a:rPr lang="en-IN" dirty="0" err="1">
                <a:latin typeface="Times New Roman" panose="02020603050405020304" pitchFamily="18" charset="0"/>
                <a:cs typeface="Times New Roman" panose="02020603050405020304" pitchFamily="18" charset="0"/>
              </a:rPr>
              <a:t>upper_bound</a:t>
            </a:r>
            <a:r>
              <a:rPr lang="en-IN" dirty="0">
                <a:latin typeface="Times New Roman" panose="02020603050405020304" pitchFamily="18" charset="0"/>
                <a:cs typeface="Times New Roman" panose="02020603050405020304" pitchFamily="18" charset="0"/>
              </a:rPr>
              <a:t>)</a:t>
            </a:r>
          </a:p>
          <a:p>
            <a:endParaRPr lang="en-IN" dirty="0">
              <a:latin typeface="Times New Roman" panose="02020603050405020304" pitchFamily="18" charset="0"/>
              <a:cs typeface="Times New Roman" panose="02020603050405020304" pitchFamily="18" charset="0"/>
            </a:endParaRPr>
          </a:p>
          <a:p>
            <a:r>
              <a:rPr lang="en-IN" dirty="0">
                <a:latin typeface="Times New Roman" panose="02020603050405020304" pitchFamily="18" charset="0"/>
                <a:cs typeface="Times New Roman" panose="02020603050405020304" pitchFamily="18" charset="0"/>
              </a:rPr>
              <a:t># Step 12: Remove Outliers</a:t>
            </a:r>
          </a:p>
          <a:p>
            <a:endParaRPr lang="en-IN" dirty="0">
              <a:latin typeface="Times New Roman" panose="02020603050405020304" pitchFamily="18" charset="0"/>
              <a:cs typeface="Times New Roman" panose="02020603050405020304" pitchFamily="18" charset="0"/>
            </a:endParaRPr>
          </a:p>
          <a:p>
            <a:r>
              <a:rPr lang="en-IN" dirty="0" err="1">
                <a:latin typeface="Times New Roman" panose="02020603050405020304" pitchFamily="18" charset="0"/>
                <a:cs typeface="Times New Roman" panose="02020603050405020304" pitchFamily="18" charset="0"/>
              </a:rPr>
              <a:t>df</a:t>
            </a:r>
            <a:r>
              <a:rPr lang="en-IN" dirty="0">
                <a:latin typeface="Times New Roman" panose="02020603050405020304" pitchFamily="18" charset="0"/>
                <a:cs typeface="Times New Roman" panose="02020603050405020304" pitchFamily="18" charset="0"/>
              </a:rPr>
              <a:t> = </a:t>
            </a:r>
            <a:r>
              <a:rPr lang="en-IN" dirty="0" err="1">
                <a:latin typeface="Times New Roman" panose="02020603050405020304" pitchFamily="18" charset="0"/>
                <a:cs typeface="Times New Roman" panose="02020603050405020304" pitchFamily="18" charset="0"/>
              </a:rPr>
              <a:t>df</a:t>
            </a:r>
            <a:r>
              <a:rPr lang="en-IN" dirty="0">
                <a:latin typeface="Times New Roman" panose="02020603050405020304" pitchFamily="18" charset="0"/>
                <a:cs typeface="Times New Roman" panose="02020603050405020304" pitchFamily="18" charset="0"/>
              </a:rPr>
              <a:t>[</a:t>
            </a:r>
          </a:p>
          <a:p>
            <a:r>
              <a:rPr lang="en-IN" dirty="0">
                <a:latin typeface="Times New Roman" panose="02020603050405020304" pitchFamily="18" charset="0"/>
                <a:cs typeface="Times New Roman" panose="02020603050405020304" pitchFamily="18" charset="0"/>
              </a:rPr>
              <a:t>    (</a:t>
            </a:r>
            <a:r>
              <a:rPr lang="en-IN" dirty="0" err="1">
                <a:latin typeface="Times New Roman" panose="02020603050405020304" pitchFamily="18" charset="0"/>
                <a:cs typeface="Times New Roman" panose="02020603050405020304" pitchFamily="18" charset="0"/>
              </a:rPr>
              <a:t>df</a:t>
            </a:r>
            <a:r>
              <a:rPr lang="en-IN" dirty="0">
                <a:latin typeface="Times New Roman" panose="02020603050405020304" pitchFamily="18" charset="0"/>
                <a:cs typeface="Times New Roman" panose="02020603050405020304" pitchFamily="18" charset="0"/>
              </a:rPr>
              <a:t>['price'] &gt;= </a:t>
            </a:r>
            <a:r>
              <a:rPr lang="en-IN" dirty="0" err="1">
                <a:latin typeface="Times New Roman" panose="02020603050405020304" pitchFamily="18" charset="0"/>
                <a:cs typeface="Times New Roman" panose="02020603050405020304" pitchFamily="18" charset="0"/>
              </a:rPr>
              <a:t>lower_bound</a:t>
            </a:r>
            <a:r>
              <a:rPr lang="en-IN" dirty="0">
                <a:latin typeface="Times New Roman" panose="02020603050405020304" pitchFamily="18" charset="0"/>
                <a:cs typeface="Times New Roman" panose="02020603050405020304" pitchFamily="18" charset="0"/>
              </a:rPr>
              <a:t>) &amp;</a:t>
            </a:r>
          </a:p>
          <a:p>
            <a:r>
              <a:rPr lang="en-IN" dirty="0">
                <a:latin typeface="Times New Roman" panose="02020603050405020304" pitchFamily="18" charset="0"/>
                <a:cs typeface="Times New Roman" panose="02020603050405020304" pitchFamily="18" charset="0"/>
              </a:rPr>
              <a:t>    (</a:t>
            </a:r>
            <a:r>
              <a:rPr lang="en-IN" dirty="0" err="1">
                <a:latin typeface="Times New Roman" panose="02020603050405020304" pitchFamily="18" charset="0"/>
                <a:cs typeface="Times New Roman" panose="02020603050405020304" pitchFamily="18" charset="0"/>
              </a:rPr>
              <a:t>df</a:t>
            </a:r>
            <a:r>
              <a:rPr lang="en-IN" dirty="0">
                <a:latin typeface="Times New Roman" panose="02020603050405020304" pitchFamily="18" charset="0"/>
                <a:cs typeface="Times New Roman" panose="02020603050405020304" pitchFamily="18" charset="0"/>
              </a:rPr>
              <a:t>['price'] &lt;= </a:t>
            </a:r>
            <a:r>
              <a:rPr lang="en-IN" dirty="0" err="1">
                <a:latin typeface="Times New Roman" panose="02020603050405020304" pitchFamily="18" charset="0"/>
                <a:cs typeface="Times New Roman" panose="02020603050405020304" pitchFamily="18" charset="0"/>
              </a:rPr>
              <a:t>upper_bound</a:t>
            </a:r>
            <a:r>
              <a:rPr lang="en-IN" dirty="0">
                <a:latin typeface="Times New Roman" panose="02020603050405020304" pitchFamily="18" charset="0"/>
                <a:cs typeface="Times New Roman" panose="02020603050405020304" pitchFamily="18" charset="0"/>
              </a:rPr>
              <a:t>)</a:t>
            </a:r>
          </a:p>
          <a:p>
            <a:r>
              <a:rPr lang="en-IN" dirty="0">
                <a:latin typeface="Times New Roman" panose="02020603050405020304" pitchFamily="18" charset="0"/>
                <a:cs typeface="Times New Roman" panose="02020603050405020304" pitchFamily="18" charset="0"/>
              </a:rPr>
              <a:t>]</a:t>
            </a:r>
          </a:p>
          <a:p>
            <a:endParaRPr lang="en-IN" dirty="0">
              <a:latin typeface="Times New Roman" panose="02020603050405020304" pitchFamily="18" charset="0"/>
              <a:cs typeface="Times New Roman" panose="02020603050405020304" pitchFamily="18" charset="0"/>
            </a:endParaRPr>
          </a:p>
          <a:p>
            <a:r>
              <a:rPr lang="en-IN" dirty="0">
                <a:latin typeface="Times New Roman" panose="02020603050405020304" pitchFamily="18" charset="0"/>
                <a:cs typeface="Times New Roman" panose="02020603050405020304" pitchFamily="18" charset="0"/>
              </a:rPr>
              <a:t>print("\</a:t>
            </a:r>
            <a:r>
              <a:rPr lang="en-IN" dirty="0" err="1">
                <a:latin typeface="Times New Roman" panose="02020603050405020304" pitchFamily="18" charset="0"/>
                <a:cs typeface="Times New Roman" panose="02020603050405020304" pitchFamily="18" charset="0"/>
              </a:rPr>
              <a:t>nShape</a:t>
            </a:r>
            <a:r>
              <a:rPr lang="en-IN" dirty="0">
                <a:latin typeface="Times New Roman" panose="02020603050405020304" pitchFamily="18" charset="0"/>
                <a:cs typeface="Times New Roman" panose="02020603050405020304" pitchFamily="18" charset="0"/>
              </a:rPr>
              <a:t> After Outlier Removal")</a:t>
            </a:r>
          </a:p>
          <a:p>
            <a:r>
              <a:rPr lang="en-IN" dirty="0">
                <a:latin typeface="Times New Roman" panose="02020603050405020304" pitchFamily="18" charset="0"/>
                <a:cs typeface="Times New Roman" panose="02020603050405020304" pitchFamily="18" charset="0"/>
              </a:rPr>
              <a:t>print(</a:t>
            </a:r>
            <a:r>
              <a:rPr lang="en-IN" dirty="0" err="1">
                <a:latin typeface="Times New Roman" panose="02020603050405020304" pitchFamily="18" charset="0"/>
                <a:cs typeface="Times New Roman" panose="02020603050405020304" pitchFamily="18" charset="0"/>
              </a:rPr>
              <a:t>df.shape</a:t>
            </a:r>
            <a:r>
              <a:rPr lang="en-IN" dirty="0">
                <a:latin typeface="Times New Roman" panose="02020603050405020304" pitchFamily="18" charset="0"/>
                <a:cs typeface="Times New Roman" panose="02020603050405020304" pitchFamily="18" charset="0"/>
              </a:rPr>
              <a:t>)</a:t>
            </a:r>
          </a:p>
          <a:p>
            <a:endParaRPr lang="en-IN" dirty="0">
              <a:latin typeface="Times New Roman" panose="02020603050405020304" pitchFamily="18" charset="0"/>
              <a:cs typeface="Times New Roman" panose="02020603050405020304" pitchFamily="18" charset="0"/>
            </a:endParaRPr>
          </a:p>
          <a:p>
            <a:r>
              <a:rPr lang="en-IN" dirty="0">
                <a:latin typeface="Times New Roman" panose="02020603050405020304" pitchFamily="18" charset="0"/>
                <a:cs typeface="Times New Roman" panose="02020603050405020304" pitchFamily="18" charset="0"/>
              </a:rPr>
              <a:t># Step 13: Data Transformation</a:t>
            </a:r>
          </a:p>
          <a:p>
            <a:endParaRPr lang="en-IN" dirty="0">
              <a:latin typeface="Times New Roman" panose="02020603050405020304" pitchFamily="18" charset="0"/>
              <a:cs typeface="Times New Roman" panose="02020603050405020304" pitchFamily="18" charset="0"/>
            </a:endParaRPr>
          </a:p>
          <a:p>
            <a:r>
              <a:rPr lang="en-IN" dirty="0" err="1">
                <a:latin typeface="Times New Roman" panose="02020603050405020304" pitchFamily="18" charset="0"/>
                <a:cs typeface="Times New Roman" panose="02020603050405020304" pitchFamily="18" charset="0"/>
              </a:rPr>
              <a:t>df</a:t>
            </a:r>
            <a:r>
              <a:rPr lang="en-IN" dirty="0">
                <a:latin typeface="Times New Roman" panose="02020603050405020304" pitchFamily="18" charset="0"/>
                <a:cs typeface="Times New Roman" panose="02020603050405020304" pitchFamily="18" charset="0"/>
              </a:rPr>
              <a:t>['</a:t>
            </a:r>
            <a:r>
              <a:rPr lang="en-IN" dirty="0" err="1">
                <a:latin typeface="Times New Roman" panose="02020603050405020304" pitchFamily="18" charset="0"/>
                <a:cs typeface="Times New Roman" panose="02020603050405020304" pitchFamily="18" charset="0"/>
              </a:rPr>
              <a:t>price_log</a:t>
            </a:r>
            <a:r>
              <a:rPr lang="en-IN" dirty="0">
                <a:latin typeface="Times New Roman" panose="02020603050405020304" pitchFamily="18" charset="0"/>
                <a:cs typeface="Times New Roman" panose="02020603050405020304" pitchFamily="18" charset="0"/>
              </a:rPr>
              <a:t>'] = np.log1p(</a:t>
            </a:r>
            <a:r>
              <a:rPr lang="en-IN" dirty="0" err="1">
                <a:latin typeface="Times New Roman" panose="02020603050405020304" pitchFamily="18" charset="0"/>
                <a:cs typeface="Times New Roman" panose="02020603050405020304" pitchFamily="18" charset="0"/>
              </a:rPr>
              <a:t>df</a:t>
            </a:r>
            <a:r>
              <a:rPr lang="en-IN" dirty="0">
                <a:latin typeface="Times New Roman" panose="02020603050405020304" pitchFamily="18" charset="0"/>
                <a:cs typeface="Times New Roman" panose="02020603050405020304" pitchFamily="18" charset="0"/>
              </a:rPr>
              <a:t>['price'])</a:t>
            </a:r>
          </a:p>
          <a:p>
            <a:endParaRPr lang="en-IN" dirty="0">
              <a:latin typeface="Times New Roman" panose="02020603050405020304" pitchFamily="18" charset="0"/>
              <a:cs typeface="Times New Roman" panose="02020603050405020304" pitchFamily="18" charset="0"/>
            </a:endParaRPr>
          </a:p>
          <a:p>
            <a:r>
              <a:rPr lang="en-IN" dirty="0">
                <a:latin typeface="Times New Roman" panose="02020603050405020304" pitchFamily="18" charset="0"/>
                <a:cs typeface="Times New Roman" panose="02020603050405020304" pitchFamily="18" charset="0"/>
              </a:rPr>
              <a:t>print("\</a:t>
            </a:r>
            <a:r>
              <a:rPr lang="en-IN" dirty="0" err="1">
                <a:latin typeface="Times New Roman" panose="02020603050405020304" pitchFamily="18" charset="0"/>
                <a:cs typeface="Times New Roman" panose="02020603050405020304" pitchFamily="18" charset="0"/>
              </a:rPr>
              <a:t>nLog</a:t>
            </a:r>
            <a:r>
              <a:rPr lang="en-IN" dirty="0">
                <a:latin typeface="Times New Roman" panose="02020603050405020304" pitchFamily="18" charset="0"/>
                <a:cs typeface="Times New Roman" panose="02020603050405020304" pitchFamily="18" charset="0"/>
              </a:rPr>
              <a:t> Transformed Price")</a:t>
            </a:r>
          </a:p>
          <a:p>
            <a:r>
              <a:rPr lang="en-IN" dirty="0">
                <a:latin typeface="Times New Roman" panose="02020603050405020304" pitchFamily="18" charset="0"/>
                <a:cs typeface="Times New Roman" panose="02020603050405020304" pitchFamily="18" charset="0"/>
              </a:rPr>
              <a:t>print(</a:t>
            </a:r>
            <a:r>
              <a:rPr lang="en-IN" dirty="0" err="1">
                <a:latin typeface="Times New Roman" panose="02020603050405020304" pitchFamily="18" charset="0"/>
                <a:cs typeface="Times New Roman" panose="02020603050405020304" pitchFamily="18" charset="0"/>
              </a:rPr>
              <a:t>df</a:t>
            </a:r>
            <a:r>
              <a:rPr lang="en-IN" dirty="0">
                <a:latin typeface="Times New Roman" panose="02020603050405020304" pitchFamily="18" charset="0"/>
                <a:cs typeface="Times New Roman" panose="02020603050405020304" pitchFamily="18" charset="0"/>
              </a:rPr>
              <a:t>[['price', '</a:t>
            </a:r>
            <a:r>
              <a:rPr lang="en-IN" dirty="0" err="1">
                <a:latin typeface="Times New Roman" panose="02020603050405020304" pitchFamily="18" charset="0"/>
                <a:cs typeface="Times New Roman" panose="02020603050405020304" pitchFamily="18" charset="0"/>
              </a:rPr>
              <a:t>price_log</a:t>
            </a:r>
            <a:r>
              <a:rPr lang="en-IN" dirty="0">
                <a:latin typeface="Times New Roman" panose="02020603050405020304" pitchFamily="18" charset="0"/>
                <a:cs typeface="Times New Roman" panose="02020603050405020304" pitchFamily="18" charset="0"/>
              </a:rPr>
              <a:t>']].head())</a:t>
            </a:r>
          </a:p>
          <a:p>
            <a:endParaRPr lang="en-IN" dirty="0">
              <a:latin typeface="Times New Roman" panose="02020603050405020304" pitchFamily="18" charset="0"/>
              <a:cs typeface="Times New Roman" panose="02020603050405020304" pitchFamily="18" charset="0"/>
            </a:endParaRPr>
          </a:p>
          <a:p>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41877964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E30EF323-5CFB-66BD-6460-C010CC0BED75}"/>
              </a:ext>
            </a:extLst>
          </p:cNvPr>
          <p:cNvSpPr txBox="1"/>
          <p:nvPr/>
        </p:nvSpPr>
        <p:spPr>
          <a:xfrm>
            <a:off x="1752600" y="198120"/>
            <a:ext cx="6263640" cy="5632311"/>
          </a:xfrm>
          <a:prstGeom prst="rect">
            <a:avLst/>
          </a:prstGeom>
          <a:noFill/>
        </p:spPr>
        <p:txBody>
          <a:bodyPr wrap="square" rtlCol="0">
            <a:spAutoFit/>
          </a:bodyPr>
          <a:lstStyle/>
          <a:p>
            <a:r>
              <a:rPr lang="en-IN" dirty="0">
                <a:latin typeface="Times New Roman" panose="02020603050405020304" pitchFamily="18" charset="0"/>
                <a:cs typeface="Times New Roman" panose="02020603050405020304" pitchFamily="18" charset="0"/>
              </a:rPr>
              <a:t># Step 14: Data Quality Check</a:t>
            </a:r>
          </a:p>
          <a:p>
            <a:endParaRPr lang="en-IN" dirty="0">
              <a:latin typeface="Times New Roman" panose="02020603050405020304" pitchFamily="18" charset="0"/>
              <a:cs typeface="Times New Roman" panose="02020603050405020304" pitchFamily="18" charset="0"/>
            </a:endParaRPr>
          </a:p>
          <a:p>
            <a:r>
              <a:rPr lang="en-IN" dirty="0" err="1">
                <a:latin typeface="Times New Roman" panose="02020603050405020304" pitchFamily="18" charset="0"/>
                <a:cs typeface="Times New Roman" panose="02020603050405020304" pitchFamily="18" charset="0"/>
              </a:rPr>
              <a:t>total_values</a:t>
            </a:r>
            <a:r>
              <a:rPr lang="en-IN" dirty="0">
                <a:latin typeface="Times New Roman" panose="02020603050405020304" pitchFamily="18" charset="0"/>
                <a:cs typeface="Times New Roman" panose="02020603050405020304" pitchFamily="18" charset="0"/>
              </a:rPr>
              <a:t> = </a:t>
            </a:r>
            <a:r>
              <a:rPr lang="en-IN" dirty="0" err="1">
                <a:latin typeface="Times New Roman" panose="02020603050405020304" pitchFamily="18" charset="0"/>
                <a:cs typeface="Times New Roman" panose="02020603050405020304" pitchFamily="18" charset="0"/>
              </a:rPr>
              <a:t>df.size</a:t>
            </a:r>
            <a:endParaRPr lang="en-IN" dirty="0">
              <a:latin typeface="Times New Roman" panose="02020603050405020304" pitchFamily="18" charset="0"/>
              <a:cs typeface="Times New Roman" panose="02020603050405020304" pitchFamily="18" charset="0"/>
            </a:endParaRPr>
          </a:p>
          <a:p>
            <a:endParaRPr lang="en-IN" dirty="0">
              <a:latin typeface="Times New Roman" panose="02020603050405020304" pitchFamily="18" charset="0"/>
              <a:cs typeface="Times New Roman" panose="02020603050405020304" pitchFamily="18" charset="0"/>
            </a:endParaRPr>
          </a:p>
          <a:p>
            <a:r>
              <a:rPr lang="en-IN" dirty="0" err="1">
                <a:latin typeface="Times New Roman" panose="02020603050405020304" pitchFamily="18" charset="0"/>
                <a:cs typeface="Times New Roman" panose="02020603050405020304" pitchFamily="18" charset="0"/>
              </a:rPr>
              <a:t>missing_values</a:t>
            </a:r>
            <a:r>
              <a:rPr lang="en-IN" dirty="0">
                <a:latin typeface="Times New Roman" panose="02020603050405020304" pitchFamily="18" charset="0"/>
                <a:cs typeface="Times New Roman" panose="02020603050405020304" pitchFamily="18" charset="0"/>
              </a:rPr>
              <a:t> = </a:t>
            </a:r>
            <a:r>
              <a:rPr lang="en-IN" dirty="0" err="1">
                <a:latin typeface="Times New Roman" panose="02020603050405020304" pitchFamily="18" charset="0"/>
                <a:cs typeface="Times New Roman" panose="02020603050405020304" pitchFamily="18" charset="0"/>
              </a:rPr>
              <a:t>df.isnull</a:t>
            </a:r>
            <a:r>
              <a:rPr lang="en-IN" dirty="0">
                <a:latin typeface="Times New Roman" panose="02020603050405020304" pitchFamily="18" charset="0"/>
                <a:cs typeface="Times New Roman" panose="02020603050405020304" pitchFamily="18" charset="0"/>
              </a:rPr>
              <a:t>().sum().sum()</a:t>
            </a:r>
          </a:p>
          <a:p>
            <a:endParaRPr lang="en-IN" dirty="0">
              <a:latin typeface="Times New Roman" panose="02020603050405020304" pitchFamily="18" charset="0"/>
              <a:cs typeface="Times New Roman" panose="02020603050405020304" pitchFamily="18" charset="0"/>
            </a:endParaRPr>
          </a:p>
          <a:p>
            <a:r>
              <a:rPr lang="en-IN" dirty="0">
                <a:latin typeface="Times New Roman" panose="02020603050405020304" pitchFamily="18" charset="0"/>
                <a:cs typeface="Times New Roman" panose="02020603050405020304" pitchFamily="18" charset="0"/>
              </a:rPr>
              <a:t>completeness = (</a:t>
            </a:r>
          </a:p>
          <a:p>
            <a:r>
              <a:rPr lang="en-IN" dirty="0">
                <a:latin typeface="Times New Roman" panose="02020603050405020304" pitchFamily="18" charset="0"/>
                <a:cs typeface="Times New Roman" panose="02020603050405020304" pitchFamily="18" charset="0"/>
              </a:rPr>
              <a:t>    (</a:t>
            </a:r>
            <a:r>
              <a:rPr lang="en-IN" dirty="0" err="1">
                <a:latin typeface="Times New Roman" panose="02020603050405020304" pitchFamily="18" charset="0"/>
                <a:cs typeface="Times New Roman" panose="02020603050405020304" pitchFamily="18" charset="0"/>
              </a:rPr>
              <a:t>total_values</a:t>
            </a:r>
            <a:r>
              <a:rPr lang="en-IN" dirty="0">
                <a:latin typeface="Times New Roman" panose="02020603050405020304" pitchFamily="18" charset="0"/>
                <a:cs typeface="Times New Roman" panose="02020603050405020304" pitchFamily="18" charset="0"/>
              </a:rPr>
              <a:t> - </a:t>
            </a:r>
            <a:r>
              <a:rPr lang="en-IN" dirty="0" err="1">
                <a:latin typeface="Times New Roman" panose="02020603050405020304" pitchFamily="18" charset="0"/>
                <a:cs typeface="Times New Roman" panose="02020603050405020304" pitchFamily="18" charset="0"/>
              </a:rPr>
              <a:t>missing_values</a:t>
            </a:r>
            <a:r>
              <a:rPr lang="en-IN" dirty="0">
                <a:latin typeface="Times New Roman" panose="02020603050405020304" pitchFamily="18" charset="0"/>
                <a:cs typeface="Times New Roman" panose="02020603050405020304" pitchFamily="18" charset="0"/>
              </a:rPr>
              <a:t>)</a:t>
            </a:r>
          </a:p>
          <a:p>
            <a:r>
              <a:rPr lang="en-IN" dirty="0">
                <a:latin typeface="Times New Roman" panose="02020603050405020304" pitchFamily="18" charset="0"/>
                <a:cs typeface="Times New Roman" panose="02020603050405020304" pitchFamily="18" charset="0"/>
              </a:rPr>
              <a:t>    / </a:t>
            </a:r>
            <a:r>
              <a:rPr lang="en-IN" dirty="0" err="1">
                <a:latin typeface="Times New Roman" panose="02020603050405020304" pitchFamily="18" charset="0"/>
                <a:cs typeface="Times New Roman" panose="02020603050405020304" pitchFamily="18" charset="0"/>
              </a:rPr>
              <a:t>total_values</a:t>
            </a:r>
            <a:endParaRPr lang="en-IN" dirty="0">
              <a:latin typeface="Times New Roman" panose="02020603050405020304" pitchFamily="18" charset="0"/>
              <a:cs typeface="Times New Roman" panose="02020603050405020304" pitchFamily="18" charset="0"/>
            </a:endParaRPr>
          </a:p>
          <a:p>
            <a:r>
              <a:rPr lang="en-IN" dirty="0">
                <a:latin typeface="Times New Roman" panose="02020603050405020304" pitchFamily="18" charset="0"/>
                <a:cs typeface="Times New Roman" panose="02020603050405020304" pitchFamily="18" charset="0"/>
              </a:rPr>
              <a:t>) * 100</a:t>
            </a:r>
          </a:p>
          <a:p>
            <a:endParaRPr lang="en-IN" dirty="0">
              <a:latin typeface="Times New Roman" panose="02020603050405020304" pitchFamily="18" charset="0"/>
              <a:cs typeface="Times New Roman" panose="02020603050405020304" pitchFamily="18" charset="0"/>
            </a:endParaRPr>
          </a:p>
          <a:p>
            <a:r>
              <a:rPr lang="en-IN" dirty="0">
                <a:latin typeface="Times New Roman" panose="02020603050405020304" pitchFamily="18" charset="0"/>
                <a:cs typeface="Times New Roman" panose="02020603050405020304" pitchFamily="18" charset="0"/>
              </a:rPr>
              <a:t>print("\</a:t>
            </a:r>
            <a:r>
              <a:rPr lang="en-IN" dirty="0" err="1">
                <a:latin typeface="Times New Roman" panose="02020603050405020304" pitchFamily="18" charset="0"/>
                <a:cs typeface="Times New Roman" panose="02020603050405020304" pitchFamily="18" charset="0"/>
              </a:rPr>
              <a:t>nData</a:t>
            </a:r>
            <a:r>
              <a:rPr lang="en-IN" dirty="0">
                <a:latin typeface="Times New Roman" panose="02020603050405020304" pitchFamily="18" charset="0"/>
                <a:cs typeface="Times New Roman" panose="02020603050405020304" pitchFamily="18" charset="0"/>
              </a:rPr>
              <a:t> Completeness =", completeness)</a:t>
            </a:r>
          </a:p>
          <a:p>
            <a:endParaRPr lang="en-IN" dirty="0">
              <a:latin typeface="Times New Roman" panose="02020603050405020304" pitchFamily="18" charset="0"/>
              <a:cs typeface="Times New Roman" panose="02020603050405020304" pitchFamily="18" charset="0"/>
            </a:endParaRPr>
          </a:p>
          <a:p>
            <a:r>
              <a:rPr lang="en-IN" dirty="0">
                <a:latin typeface="Times New Roman" panose="02020603050405020304" pitchFamily="18" charset="0"/>
                <a:cs typeface="Times New Roman" panose="02020603050405020304" pitchFamily="18" charset="0"/>
              </a:rPr>
              <a:t># Step 15: Final Dataset Information</a:t>
            </a:r>
          </a:p>
          <a:p>
            <a:endParaRPr lang="en-IN" dirty="0">
              <a:latin typeface="Times New Roman" panose="02020603050405020304" pitchFamily="18" charset="0"/>
              <a:cs typeface="Times New Roman" panose="02020603050405020304" pitchFamily="18" charset="0"/>
            </a:endParaRPr>
          </a:p>
          <a:p>
            <a:r>
              <a:rPr lang="en-IN" dirty="0">
                <a:latin typeface="Times New Roman" panose="02020603050405020304" pitchFamily="18" charset="0"/>
                <a:cs typeface="Times New Roman" panose="02020603050405020304" pitchFamily="18" charset="0"/>
              </a:rPr>
              <a:t>print("\</a:t>
            </a:r>
            <a:r>
              <a:rPr lang="en-IN" dirty="0" err="1">
                <a:latin typeface="Times New Roman" panose="02020603050405020304" pitchFamily="18" charset="0"/>
                <a:cs typeface="Times New Roman" panose="02020603050405020304" pitchFamily="18" charset="0"/>
              </a:rPr>
              <a:t>nFinal</a:t>
            </a:r>
            <a:r>
              <a:rPr lang="en-IN" dirty="0">
                <a:latin typeface="Times New Roman" panose="02020603050405020304" pitchFamily="18" charset="0"/>
                <a:cs typeface="Times New Roman" panose="02020603050405020304" pitchFamily="18" charset="0"/>
              </a:rPr>
              <a:t> Dataset Summary")</a:t>
            </a:r>
          </a:p>
          <a:p>
            <a:r>
              <a:rPr lang="en-IN" dirty="0">
                <a:latin typeface="Times New Roman" panose="02020603050405020304" pitchFamily="18" charset="0"/>
                <a:cs typeface="Times New Roman" panose="02020603050405020304" pitchFamily="18" charset="0"/>
              </a:rPr>
              <a:t>print(</a:t>
            </a:r>
            <a:r>
              <a:rPr lang="en-IN" dirty="0" err="1">
                <a:latin typeface="Times New Roman" panose="02020603050405020304" pitchFamily="18" charset="0"/>
                <a:cs typeface="Times New Roman" panose="02020603050405020304" pitchFamily="18" charset="0"/>
              </a:rPr>
              <a:t>df.describe</a:t>
            </a:r>
            <a:r>
              <a:rPr lang="en-IN" dirty="0">
                <a:latin typeface="Times New Roman" panose="02020603050405020304" pitchFamily="18" charset="0"/>
                <a:cs typeface="Times New Roman" panose="02020603050405020304" pitchFamily="18" charset="0"/>
              </a:rPr>
              <a:t>())</a:t>
            </a:r>
          </a:p>
          <a:p>
            <a:endParaRPr lang="en-IN" dirty="0">
              <a:latin typeface="Times New Roman" panose="02020603050405020304" pitchFamily="18" charset="0"/>
              <a:cs typeface="Times New Roman" panose="02020603050405020304" pitchFamily="18" charset="0"/>
            </a:endParaRPr>
          </a:p>
          <a:p>
            <a:r>
              <a:rPr lang="en-IN" dirty="0">
                <a:latin typeface="Times New Roman" panose="02020603050405020304" pitchFamily="18" charset="0"/>
                <a:cs typeface="Times New Roman" panose="02020603050405020304" pitchFamily="18" charset="0"/>
              </a:rPr>
              <a:t>print("\</a:t>
            </a:r>
            <a:r>
              <a:rPr lang="en-IN" dirty="0" err="1">
                <a:latin typeface="Times New Roman" panose="02020603050405020304" pitchFamily="18" charset="0"/>
                <a:cs typeface="Times New Roman" panose="02020603050405020304" pitchFamily="18" charset="0"/>
              </a:rPr>
              <a:t>nData</a:t>
            </a:r>
            <a:r>
              <a:rPr lang="en-IN" dirty="0">
                <a:latin typeface="Times New Roman" panose="02020603050405020304" pitchFamily="18" charset="0"/>
                <a:cs typeface="Times New Roman" panose="02020603050405020304" pitchFamily="18" charset="0"/>
              </a:rPr>
              <a:t> Cleaning Completed Successfully")</a:t>
            </a:r>
          </a:p>
          <a:p>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24117727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TextBox 1">
                <a:extLst>
                  <a:ext uri="{FF2B5EF4-FFF2-40B4-BE49-F238E27FC236}">
                    <a16:creationId xmlns:a16="http://schemas.microsoft.com/office/drawing/2014/main" id="{0D1E5D3F-8314-4870-3CC3-5E51824EADDD}"/>
                  </a:ext>
                </a:extLst>
              </p:cNvPr>
              <p:cNvSpPr txBox="1"/>
              <p:nvPr/>
            </p:nvSpPr>
            <p:spPr>
              <a:xfrm>
                <a:off x="1306285" y="-130628"/>
                <a:ext cx="8266922" cy="7620676"/>
              </a:xfrm>
              <a:prstGeom prst="rect">
                <a:avLst/>
              </a:prstGeom>
              <a:noFill/>
            </p:spPr>
            <p:txBody>
              <a:bodyPr wrap="square" rtlCol="0">
                <a:spAutoFit/>
              </a:bodyPr>
              <a:lstStyle/>
              <a:p>
                <a:r>
                  <a:rPr lang="en-IN" sz="4400" b="1" dirty="0">
                    <a:latin typeface="Times New Roman" panose="02020603050405020304" pitchFamily="18" charset="0"/>
                    <a:cs typeface="Times New Roman" panose="02020603050405020304" pitchFamily="18" charset="0"/>
                  </a:rPr>
                  <a:t>CO-1 Formulas Used </a:t>
                </a:r>
              </a:p>
              <a:p>
                <a:r>
                  <a:rPr lang="en-IN" sz="2400" b="1" dirty="0">
                    <a:latin typeface="Times New Roman" panose="02020603050405020304" pitchFamily="18" charset="0"/>
                    <a:cs typeface="Times New Roman" panose="02020603050405020304" pitchFamily="18" charset="0"/>
                  </a:rPr>
                  <a:t>1. Missing Value Percentage</a:t>
                </a:r>
              </a:p>
              <a:p>
                <a:pPr/>
                <a14:m>
                  <m:oMathPara xmlns:m="http://schemas.openxmlformats.org/officeDocument/2006/math">
                    <m:oMathParaPr>
                      <m:jc m:val="centerGroup"/>
                    </m:oMathParaPr>
                    <m:oMath xmlns:m="http://schemas.openxmlformats.org/officeDocument/2006/math">
                      <m:r>
                        <m:rPr>
                          <m:nor/>
                        </m:rPr>
                        <a:rPr lang="en-IN" sz="2400" b="0">
                          <a:latin typeface="Times New Roman" panose="02020603050405020304" pitchFamily="18" charset="0"/>
                          <a:cs typeface="Times New Roman" panose="02020603050405020304" pitchFamily="18" charset="0"/>
                        </a:rPr>
                        <m:t>Missing</m:t>
                      </m:r>
                      <m:r>
                        <m:rPr>
                          <m:nor/>
                        </m:rPr>
                        <a:rPr lang="en-IN" sz="2400" b="0" i="1">
                          <a:latin typeface="Times New Roman" panose="02020603050405020304" pitchFamily="18" charset="0"/>
                          <a:cs typeface="Times New Roman" panose="02020603050405020304" pitchFamily="18" charset="0"/>
                        </a:rPr>
                        <m:t> </m:t>
                      </m:r>
                      <m:r>
                        <m:rPr>
                          <m:nor/>
                        </m:rPr>
                        <a:rPr lang="en-IN" sz="2400" b="0" i="1">
                          <a:latin typeface="Times New Roman" panose="02020603050405020304" pitchFamily="18" charset="0"/>
                          <a:cs typeface="Times New Roman" panose="02020603050405020304" pitchFamily="18" charset="0"/>
                        </a:rPr>
                        <m:t>Percentage</m:t>
                      </m:r>
                      <m:r>
                        <a:rPr lang="en-IN" sz="2400">
                          <a:latin typeface="Cambria Math" panose="02040503050406030204" pitchFamily="18" charset="0"/>
                        </a:rPr>
                        <m:t>=</m:t>
                      </m:r>
                      <m:f>
                        <m:fPr>
                          <m:ctrlPr>
                            <a:rPr lang="en-IN" sz="2400" i="1">
                              <a:latin typeface="Cambria Math" panose="02040503050406030204" pitchFamily="18" charset="0"/>
                            </a:rPr>
                          </m:ctrlPr>
                        </m:fPr>
                        <m:num>
                          <m:r>
                            <m:rPr>
                              <m:nor/>
                            </m:rPr>
                            <a:rPr lang="en-IN" sz="2400" i="1">
                              <a:latin typeface="Times New Roman" panose="02020603050405020304" pitchFamily="18" charset="0"/>
                              <a:cs typeface="Times New Roman" panose="02020603050405020304" pitchFamily="18" charset="0"/>
                            </a:rPr>
                            <m:t>Number</m:t>
                          </m:r>
                          <m:r>
                            <m:rPr>
                              <m:nor/>
                            </m:rPr>
                            <a:rPr lang="en-IN" sz="2400" i="1">
                              <a:latin typeface="Times New Roman" panose="02020603050405020304" pitchFamily="18" charset="0"/>
                              <a:cs typeface="Times New Roman" panose="02020603050405020304" pitchFamily="18" charset="0"/>
                            </a:rPr>
                            <m:t> </m:t>
                          </m:r>
                          <m:r>
                            <m:rPr>
                              <m:nor/>
                            </m:rPr>
                            <a:rPr lang="en-IN" sz="2400" i="1">
                              <a:latin typeface="Times New Roman" panose="02020603050405020304" pitchFamily="18" charset="0"/>
                              <a:cs typeface="Times New Roman" panose="02020603050405020304" pitchFamily="18" charset="0"/>
                            </a:rPr>
                            <m:t>of</m:t>
                          </m:r>
                          <m:r>
                            <m:rPr>
                              <m:nor/>
                            </m:rPr>
                            <a:rPr lang="en-IN" sz="2400" i="1">
                              <a:latin typeface="Times New Roman" panose="02020603050405020304" pitchFamily="18" charset="0"/>
                              <a:cs typeface="Times New Roman" panose="02020603050405020304" pitchFamily="18" charset="0"/>
                            </a:rPr>
                            <m:t> </m:t>
                          </m:r>
                          <m:r>
                            <m:rPr>
                              <m:nor/>
                            </m:rPr>
                            <a:rPr lang="en-IN" sz="2400" i="1">
                              <a:latin typeface="Times New Roman" panose="02020603050405020304" pitchFamily="18" charset="0"/>
                              <a:cs typeface="Times New Roman" panose="02020603050405020304" pitchFamily="18" charset="0"/>
                            </a:rPr>
                            <m:t>Missing</m:t>
                          </m:r>
                          <m:r>
                            <m:rPr>
                              <m:nor/>
                            </m:rPr>
                            <a:rPr lang="en-IN" sz="2400" i="1">
                              <a:latin typeface="Times New Roman" panose="02020603050405020304" pitchFamily="18" charset="0"/>
                              <a:cs typeface="Times New Roman" panose="02020603050405020304" pitchFamily="18" charset="0"/>
                            </a:rPr>
                            <m:t> </m:t>
                          </m:r>
                          <m:r>
                            <m:rPr>
                              <m:nor/>
                            </m:rPr>
                            <a:rPr lang="en-IN" sz="2400" i="1">
                              <a:latin typeface="Times New Roman" panose="02020603050405020304" pitchFamily="18" charset="0"/>
                              <a:cs typeface="Times New Roman" panose="02020603050405020304" pitchFamily="18" charset="0"/>
                            </a:rPr>
                            <m:t>Values</m:t>
                          </m:r>
                        </m:num>
                        <m:den>
                          <m:r>
                            <m:rPr>
                              <m:nor/>
                            </m:rPr>
                            <a:rPr lang="en-IN" sz="2400" i="1">
                              <a:latin typeface="Times New Roman" panose="02020603050405020304" pitchFamily="18" charset="0"/>
                              <a:cs typeface="Times New Roman" panose="02020603050405020304" pitchFamily="18" charset="0"/>
                            </a:rPr>
                            <m:t>Total</m:t>
                          </m:r>
                          <m:r>
                            <m:rPr>
                              <m:nor/>
                            </m:rPr>
                            <a:rPr lang="en-IN" sz="2400" i="1">
                              <a:latin typeface="Times New Roman" panose="02020603050405020304" pitchFamily="18" charset="0"/>
                              <a:cs typeface="Times New Roman" panose="02020603050405020304" pitchFamily="18" charset="0"/>
                            </a:rPr>
                            <m:t> </m:t>
                          </m:r>
                          <m:r>
                            <m:rPr>
                              <m:nor/>
                            </m:rPr>
                            <a:rPr lang="en-IN" sz="2400" i="1">
                              <a:latin typeface="Times New Roman" panose="02020603050405020304" pitchFamily="18" charset="0"/>
                              <a:cs typeface="Times New Roman" panose="02020603050405020304" pitchFamily="18" charset="0"/>
                            </a:rPr>
                            <m:t>Values</m:t>
                          </m:r>
                        </m:den>
                      </m:f>
                      <m:r>
                        <a:rPr lang="en-IN" sz="2400">
                          <a:latin typeface="Cambria Math" panose="02040503050406030204" pitchFamily="18" charset="0"/>
                        </a:rPr>
                        <m:t>×100</m:t>
                      </m:r>
                    </m:oMath>
                  </m:oMathPara>
                </a14:m>
                <a:endParaRPr lang="en-IN" sz="2400" b="0" dirty="0">
                  <a:latin typeface="Times New Roman" panose="02020603050405020304" pitchFamily="18" charset="0"/>
                  <a:cs typeface="Times New Roman" panose="02020603050405020304" pitchFamily="18" charset="0"/>
                </a:endParaRPr>
              </a:p>
              <a:p>
                <a:br>
                  <a:rPr lang="en-IN" sz="2400" dirty="0">
                    <a:latin typeface="Times New Roman" panose="02020603050405020304" pitchFamily="18" charset="0"/>
                    <a:cs typeface="Times New Roman" panose="02020603050405020304" pitchFamily="18" charset="0"/>
                  </a:rPr>
                </a:br>
                <a:endParaRPr lang="en-IN" sz="2400" dirty="0">
                  <a:latin typeface="Times New Roman" panose="02020603050405020304" pitchFamily="18" charset="0"/>
                  <a:cs typeface="Times New Roman" panose="02020603050405020304" pitchFamily="18" charset="0"/>
                </a:endParaRPr>
              </a:p>
              <a:p>
                <a:r>
                  <a:rPr lang="en-IN" sz="2400" b="1" dirty="0">
                    <a:latin typeface="Times New Roman" panose="02020603050405020304" pitchFamily="18" charset="0"/>
                    <a:cs typeface="Times New Roman" panose="02020603050405020304" pitchFamily="18" charset="0"/>
                  </a:rPr>
                  <a:t>2. Duplicate Rate</a:t>
                </a:r>
              </a:p>
              <a:p>
                <a:pPr/>
                <a14:m>
                  <m:oMathPara xmlns:m="http://schemas.openxmlformats.org/officeDocument/2006/math">
                    <m:oMathParaPr>
                      <m:jc m:val="centerGroup"/>
                    </m:oMathParaPr>
                    <m:oMath xmlns:m="http://schemas.openxmlformats.org/officeDocument/2006/math">
                      <m:r>
                        <m:rPr>
                          <m:nor/>
                        </m:rPr>
                        <a:rPr lang="en-IN" sz="2400" b="0">
                          <a:latin typeface="Times New Roman" panose="02020603050405020304" pitchFamily="18" charset="0"/>
                          <a:cs typeface="Times New Roman" panose="02020603050405020304" pitchFamily="18" charset="0"/>
                        </a:rPr>
                        <m:t>Duplicate</m:t>
                      </m:r>
                      <m:r>
                        <m:rPr>
                          <m:nor/>
                        </m:rPr>
                        <a:rPr lang="en-IN" sz="2400" b="0" i="1">
                          <a:latin typeface="Times New Roman" panose="02020603050405020304" pitchFamily="18" charset="0"/>
                          <a:cs typeface="Times New Roman" panose="02020603050405020304" pitchFamily="18" charset="0"/>
                        </a:rPr>
                        <m:t> </m:t>
                      </m:r>
                      <m:r>
                        <m:rPr>
                          <m:nor/>
                        </m:rPr>
                        <a:rPr lang="en-IN" sz="2400" b="0" i="1">
                          <a:latin typeface="Times New Roman" panose="02020603050405020304" pitchFamily="18" charset="0"/>
                          <a:cs typeface="Times New Roman" panose="02020603050405020304" pitchFamily="18" charset="0"/>
                        </a:rPr>
                        <m:t>Rate</m:t>
                      </m:r>
                      <m:r>
                        <a:rPr lang="en-IN" sz="2400">
                          <a:latin typeface="Cambria Math" panose="02040503050406030204" pitchFamily="18" charset="0"/>
                        </a:rPr>
                        <m:t>=</m:t>
                      </m:r>
                      <m:f>
                        <m:fPr>
                          <m:ctrlPr>
                            <a:rPr lang="en-IN" sz="2400" i="1">
                              <a:latin typeface="Cambria Math" panose="02040503050406030204" pitchFamily="18" charset="0"/>
                            </a:rPr>
                          </m:ctrlPr>
                        </m:fPr>
                        <m:num>
                          <m:r>
                            <m:rPr>
                              <m:nor/>
                            </m:rPr>
                            <a:rPr lang="en-IN" sz="2400" i="1">
                              <a:latin typeface="Times New Roman" panose="02020603050405020304" pitchFamily="18" charset="0"/>
                              <a:cs typeface="Times New Roman" panose="02020603050405020304" pitchFamily="18" charset="0"/>
                            </a:rPr>
                            <m:t>Number</m:t>
                          </m:r>
                          <m:r>
                            <m:rPr>
                              <m:nor/>
                            </m:rPr>
                            <a:rPr lang="en-IN" sz="2400" i="1">
                              <a:latin typeface="Times New Roman" panose="02020603050405020304" pitchFamily="18" charset="0"/>
                              <a:cs typeface="Times New Roman" panose="02020603050405020304" pitchFamily="18" charset="0"/>
                            </a:rPr>
                            <m:t> </m:t>
                          </m:r>
                          <m:r>
                            <m:rPr>
                              <m:nor/>
                            </m:rPr>
                            <a:rPr lang="en-IN" sz="2400" i="1">
                              <a:latin typeface="Times New Roman" panose="02020603050405020304" pitchFamily="18" charset="0"/>
                              <a:cs typeface="Times New Roman" panose="02020603050405020304" pitchFamily="18" charset="0"/>
                            </a:rPr>
                            <m:t>of</m:t>
                          </m:r>
                          <m:r>
                            <m:rPr>
                              <m:nor/>
                            </m:rPr>
                            <a:rPr lang="en-IN" sz="2400" i="1">
                              <a:latin typeface="Times New Roman" panose="02020603050405020304" pitchFamily="18" charset="0"/>
                              <a:cs typeface="Times New Roman" panose="02020603050405020304" pitchFamily="18" charset="0"/>
                            </a:rPr>
                            <m:t> </m:t>
                          </m:r>
                          <m:r>
                            <m:rPr>
                              <m:nor/>
                            </m:rPr>
                            <a:rPr lang="en-IN" sz="2400" i="1">
                              <a:latin typeface="Times New Roman" panose="02020603050405020304" pitchFamily="18" charset="0"/>
                              <a:cs typeface="Times New Roman" panose="02020603050405020304" pitchFamily="18" charset="0"/>
                            </a:rPr>
                            <m:t>Duplicate</m:t>
                          </m:r>
                          <m:r>
                            <m:rPr>
                              <m:nor/>
                            </m:rPr>
                            <a:rPr lang="en-IN" sz="2400" i="1">
                              <a:latin typeface="Times New Roman" panose="02020603050405020304" pitchFamily="18" charset="0"/>
                              <a:cs typeface="Times New Roman" panose="02020603050405020304" pitchFamily="18" charset="0"/>
                            </a:rPr>
                            <m:t> </m:t>
                          </m:r>
                          <m:r>
                            <m:rPr>
                              <m:nor/>
                            </m:rPr>
                            <a:rPr lang="en-IN" sz="2400" i="1">
                              <a:latin typeface="Times New Roman" panose="02020603050405020304" pitchFamily="18" charset="0"/>
                              <a:cs typeface="Times New Roman" panose="02020603050405020304" pitchFamily="18" charset="0"/>
                            </a:rPr>
                            <m:t>Records</m:t>
                          </m:r>
                        </m:num>
                        <m:den>
                          <m:r>
                            <m:rPr>
                              <m:nor/>
                            </m:rPr>
                            <a:rPr lang="en-IN" sz="2400" i="1">
                              <a:latin typeface="Times New Roman" panose="02020603050405020304" pitchFamily="18" charset="0"/>
                              <a:cs typeface="Times New Roman" panose="02020603050405020304" pitchFamily="18" charset="0"/>
                            </a:rPr>
                            <m:t>Total</m:t>
                          </m:r>
                          <m:r>
                            <m:rPr>
                              <m:nor/>
                            </m:rPr>
                            <a:rPr lang="en-IN" sz="2400" i="1">
                              <a:latin typeface="Times New Roman" panose="02020603050405020304" pitchFamily="18" charset="0"/>
                              <a:cs typeface="Times New Roman" panose="02020603050405020304" pitchFamily="18" charset="0"/>
                            </a:rPr>
                            <m:t> </m:t>
                          </m:r>
                          <m:r>
                            <m:rPr>
                              <m:nor/>
                            </m:rPr>
                            <a:rPr lang="en-IN" sz="2400" i="1">
                              <a:latin typeface="Times New Roman" panose="02020603050405020304" pitchFamily="18" charset="0"/>
                              <a:cs typeface="Times New Roman" panose="02020603050405020304" pitchFamily="18" charset="0"/>
                            </a:rPr>
                            <m:t>Records</m:t>
                          </m:r>
                        </m:den>
                      </m:f>
                      <m:r>
                        <a:rPr lang="en-IN" sz="2400">
                          <a:latin typeface="Cambria Math" panose="02040503050406030204" pitchFamily="18" charset="0"/>
                        </a:rPr>
                        <m:t>×100</m:t>
                      </m:r>
                    </m:oMath>
                  </m:oMathPara>
                </a14:m>
                <a:endParaRPr lang="en-IN" sz="2400" b="0" dirty="0">
                  <a:latin typeface="Times New Roman" panose="02020603050405020304" pitchFamily="18" charset="0"/>
                  <a:cs typeface="Times New Roman" panose="02020603050405020304" pitchFamily="18" charset="0"/>
                </a:endParaRPr>
              </a:p>
              <a:p>
                <a:br>
                  <a:rPr lang="en-IN" sz="2400" dirty="0">
                    <a:latin typeface="Times New Roman" panose="02020603050405020304" pitchFamily="18" charset="0"/>
                    <a:cs typeface="Times New Roman" panose="02020603050405020304" pitchFamily="18" charset="0"/>
                  </a:rPr>
                </a:br>
                <a:endParaRPr lang="en-IN" sz="2400" dirty="0">
                  <a:latin typeface="Times New Roman" panose="02020603050405020304" pitchFamily="18" charset="0"/>
                  <a:cs typeface="Times New Roman" panose="02020603050405020304" pitchFamily="18" charset="0"/>
                </a:endParaRPr>
              </a:p>
              <a:p>
                <a:r>
                  <a:rPr lang="en-IN" sz="2400" b="1" dirty="0">
                    <a:latin typeface="Times New Roman" panose="02020603050405020304" pitchFamily="18" charset="0"/>
                    <a:cs typeface="Times New Roman" panose="02020603050405020304" pitchFamily="18" charset="0"/>
                  </a:rPr>
                  <a:t>3. Interquartile Range (IQR)</a:t>
                </a:r>
              </a:p>
              <a:p>
                <a:pPr/>
                <a14:m>
                  <m:oMathPara xmlns:m="http://schemas.openxmlformats.org/officeDocument/2006/math">
                    <m:oMathParaPr>
                      <m:jc m:val="centerGroup"/>
                    </m:oMathParaPr>
                    <m:oMath xmlns:m="http://schemas.openxmlformats.org/officeDocument/2006/math">
                      <m:r>
                        <a:rPr lang="en-IN" sz="2400" i="1">
                          <a:latin typeface="Cambria Math" panose="02040503050406030204" pitchFamily="18" charset="0"/>
                        </a:rPr>
                        <m:t>𝐼𝑄𝑅</m:t>
                      </m:r>
                      <m:r>
                        <a:rPr lang="en-IN" sz="2400">
                          <a:latin typeface="Cambria Math" panose="02040503050406030204" pitchFamily="18" charset="0"/>
                        </a:rPr>
                        <m:t>=</m:t>
                      </m:r>
                      <m:sSub>
                        <m:sSubPr>
                          <m:ctrlPr>
                            <a:rPr lang="en-IN" sz="2400" i="1">
                              <a:latin typeface="Cambria Math" panose="02040503050406030204" pitchFamily="18" charset="0"/>
                            </a:rPr>
                          </m:ctrlPr>
                        </m:sSubPr>
                        <m:e>
                          <m:r>
                            <a:rPr lang="en-IN" sz="2400" i="1">
                              <a:latin typeface="Cambria Math" panose="02040503050406030204" pitchFamily="18" charset="0"/>
                            </a:rPr>
                            <m:t>𝑄</m:t>
                          </m:r>
                        </m:e>
                        <m:sub>
                          <m:r>
                            <a:rPr lang="en-IN" sz="2400">
                              <a:latin typeface="Cambria Math" panose="02040503050406030204" pitchFamily="18" charset="0"/>
                            </a:rPr>
                            <m:t>3</m:t>
                          </m:r>
                        </m:sub>
                      </m:sSub>
                      <m:r>
                        <a:rPr lang="en-IN" sz="2400">
                          <a:latin typeface="Cambria Math" panose="02040503050406030204" pitchFamily="18" charset="0"/>
                        </a:rPr>
                        <m:t>−</m:t>
                      </m:r>
                      <m:sSub>
                        <m:sSubPr>
                          <m:ctrlPr>
                            <a:rPr lang="en-IN" sz="2400" i="1">
                              <a:latin typeface="Cambria Math" panose="02040503050406030204" pitchFamily="18" charset="0"/>
                            </a:rPr>
                          </m:ctrlPr>
                        </m:sSubPr>
                        <m:e>
                          <m:r>
                            <a:rPr lang="en-IN" sz="2400" i="1">
                              <a:latin typeface="Cambria Math" panose="02040503050406030204" pitchFamily="18" charset="0"/>
                            </a:rPr>
                            <m:t>𝑄</m:t>
                          </m:r>
                        </m:e>
                        <m:sub>
                          <m:r>
                            <a:rPr lang="en-IN" sz="2400">
                              <a:latin typeface="Cambria Math" panose="02040503050406030204" pitchFamily="18" charset="0"/>
                            </a:rPr>
                            <m:t>1</m:t>
                          </m:r>
                        </m:sub>
                      </m:sSub>
                    </m:oMath>
                  </m:oMathPara>
                </a14:m>
                <a:endParaRPr lang="en-IN" sz="2400" dirty="0">
                  <a:latin typeface="Times New Roman" panose="02020603050405020304" pitchFamily="18" charset="0"/>
                  <a:cs typeface="Times New Roman" panose="02020603050405020304" pitchFamily="18" charset="0"/>
                </a:endParaRPr>
              </a:p>
              <a:p>
                <a:br>
                  <a:rPr lang="en-IN" sz="2400" dirty="0">
                    <a:latin typeface="Times New Roman" panose="02020603050405020304" pitchFamily="18" charset="0"/>
                    <a:cs typeface="Times New Roman" panose="02020603050405020304" pitchFamily="18" charset="0"/>
                  </a:rPr>
                </a:br>
                <a:endParaRPr lang="en-IN" sz="2400" dirty="0">
                  <a:latin typeface="Times New Roman" panose="02020603050405020304" pitchFamily="18" charset="0"/>
                  <a:cs typeface="Times New Roman" panose="02020603050405020304" pitchFamily="18" charset="0"/>
                </a:endParaRPr>
              </a:p>
              <a:p>
                <a:r>
                  <a:rPr lang="en-IN" sz="2400" b="1" dirty="0">
                    <a:latin typeface="Times New Roman" panose="02020603050405020304" pitchFamily="18" charset="0"/>
                    <a:cs typeface="Times New Roman" panose="02020603050405020304" pitchFamily="18" charset="0"/>
                  </a:rPr>
                  <a:t>4. Lower Bound for Outlier Detection</a:t>
                </a:r>
              </a:p>
              <a:p>
                <a:pPr/>
                <a14:m>
                  <m:oMathPara xmlns:m="http://schemas.openxmlformats.org/officeDocument/2006/math">
                    <m:oMathParaPr>
                      <m:jc m:val="centerGroup"/>
                    </m:oMathParaPr>
                    <m:oMath xmlns:m="http://schemas.openxmlformats.org/officeDocument/2006/math">
                      <m:r>
                        <m:rPr>
                          <m:nor/>
                        </m:rPr>
                        <a:rPr lang="en-IN" sz="2400" b="0">
                          <a:latin typeface="Times New Roman" panose="02020603050405020304" pitchFamily="18" charset="0"/>
                          <a:cs typeface="Times New Roman" panose="02020603050405020304" pitchFamily="18" charset="0"/>
                        </a:rPr>
                        <m:t>Lower</m:t>
                      </m:r>
                      <m:r>
                        <m:rPr>
                          <m:nor/>
                        </m:rPr>
                        <a:rPr lang="en-IN" sz="2400" b="0" i="1">
                          <a:latin typeface="Times New Roman" panose="02020603050405020304" pitchFamily="18" charset="0"/>
                          <a:cs typeface="Times New Roman" panose="02020603050405020304" pitchFamily="18" charset="0"/>
                        </a:rPr>
                        <m:t> </m:t>
                      </m:r>
                      <m:r>
                        <m:rPr>
                          <m:nor/>
                        </m:rPr>
                        <a:rPr lang="en-IN" sz="2400" b="0" i="1">
                          <a:latin typeface="Times New Roman" panose="02020603050405020304" pitchFamily="18" charset="0"/>
                          <a:cs typeface="Times New Roman" panose="02020603050405020304" pitchFamily="18" charset="0"/>
                        </a:rPr>
                        <m:t>Bound</m:t>
                      </m:r>
                      <m:r>
                        <a:rPr lang="en-IN" sz="2400">
                          <a:latin typeface="Cambria Math" panose="02040503050406030204" pitchFamily="18" charset="0"/>
                        </a:rPr>
                        <m:t>=</m:t>
                      </m:r>
                      <m:sSub>
                        <m:sSubPr>
                          <m:ctrlPr>
                            <a:rPr lang="en-IN" sz="2400" i="1">
                              <a:latin typeface="Cambria Math" panose="02040503050406030204" pitchFamily="18" charset="0"/>
                            </a:rPr>
                          </m:ctrlPr>
                        </m:sSubPr>
                        <m:e>
                          <m:r>
                            <a:rPr lang="en-IN" sz="2400" i="1">
                              <a:latin typeface="Cambria Math" panose="02040503050406030204" pitchFamily="18" charset="0"/>
                            </a:rPr>
                            <m:t>𝑄</m:t>
                          </m:r>
                        </m:e>
                        <m:sub>
                          <m:r>
                            <a:rPr lang="en-IN" sz="2400">
                              <a:latin typeface="Cambria Math" panose="02040503050406030204" pitchFamily="18" charset="0"/>
                            </a:rPr>
                            <m:t>1</m:t>
                          </m:r>
                        </m:sub>
                      </m:sSub>
                      <m:r>
                        <a:rPr lang="en-IN" sz="2400">
                          <a:latin typeface="Cambria Math" panose="02040503050406030204" pitchFamily="18" charset="0"/>
                        </a:rPr>
                        <m:t>−1.5</m:t>
                      </m:r>
                      <m:d>
                        <m:dPr>
                          <m:ctrlPr>
                            <a:rPr lang="en-IN" sz="2400" i="1">
                              <a:latin typeface="Cambria Math" panose="02040503050406030204" pitchFamily="18" charset="0"/>
                            </a:rPr>
                          </m:ctrlPr>
                        </m:dPr>
                        <m:e>
                          <m:r>
                            <a:rPr lang="en-IN" sz="2400" i="1">
                              <a:latin typeface="Cambria Math" panose="02040503050406030204" pitchFamily="18" charset="0"/>
                            </a:rPr>
                            <m:t>𝐼𝑄𝑅</m:t>
                          </m:r>
                        </m:e>
                      </m:d>
                    </m:oMath>
                  </m:oMathPara>
                </a14:m>
                <a:endParaRPr lang="en-IN" sz="2400" b="0" dirty="0">
                  <a:latin typeface="Times New Roman" panose="02020603050405020304" pitchFamily="18" charset="0"/>
                  <a:cs typeface="Times New Roman" panose="02020603050405020304" pitchFamily="18" charset="0"/>
                </a:endParaRPr>
              </a:p>
              <a:p>
                <a:br>
                  <a:rPr lang="en-IN" sz="2400" dirty="0">
                    <a:latin typeface="Times New Roman" panose="02020603050405020304" pitchFamily="18" charset="0"/>
                    <a:cs typeface="Times New Roman" panose="02020603050405020304" pitchFamily="18" charset="0"/>
                  </a:rPr>
                </a:br>
                <a:endParaRPr lang="en-IN" sz="2400" dirty="0">
                  <a:latin typeface="Times New Roman" panose="02020603050405020304" pitchFamily="18" charset="0"/>
                  <a:cs typeface="Times New Roman" panose="02020603050405020304" pitchFamily="18" charset="0"/>
                </a:endParaRPr>
              </a:p>
              <a:p>
                <a:endParaRPr lang="en-IN" dirty="0"/>
              </a:p>
            </p:txBody>
          </p:sp>
        </mc:Choice>
        <mc:Fallback xmlns="">
          <p:sp>
            <p:nvSpPr>
              <p:cNvPr id="2" name="TextBox 1">
                <a:extLst>
                  <a:ext uri="{FF2B5EF4-FFF2-40B4-BE49-F238E27FC236}">
                    <a16:creationId xmlns:a16="http://schemas.microsoft.com/office/drawing/2014/main" id="{0D1E5D3F-8314-4870-3CC3-5E51824EADDD}"/>
                  </a:ext>
                </a:extLst>
              </p:cNvPr>
              <p:cNvSpPr txBox="1">
                <a:spLocks noRot="1" noChangeAspect="1" noMove="1" noResize="1" noEditPoints="1" noAdjustHandles="1" noChangeArrowheads="1" noChangeShapeType="1" noTextEdit="1"/>
              </p:cNvSpPr>
              <p:nvPr/>
            </p:nvSpPr>
            <p:spPr>
              <a:xfrm>
                <a:off x="1306285" y="-130628"/>
                <a:ext cx="8266922" cy="7620676"/>
              </a:xfrm>
              <a:prstGeom prst="rect">
                <a:avLst/>
              </a:prstGeom>
              <a:blipFill>
                <a:blip r:embed="rId2"/>
                <a:stretch>
                  <a:fillRect l="-2950" t="-1600"/>
                </a:stretch>
              </a:blipFill>
            </p:spPr>
            <p:txBody>
              <a:bodyPr/>
              <a:lstStyle/>
              <a:p>
                <a:r>
                  <a:rPr lang="en-IN">
                    <a:noFill/>
                  </a:rPr>
                  <a:t> </a:t>
                </a:r>
              </a:p>
            </p:txBody>
          </p:sp>
        </mc:Fallback>
      </mc:AlternateContent>
    </p:spTree>
    <p:extLst>
      <p:ext uri="{BB962C8B-B14F-4D97-AF65-F5344CB8AC3E}">
        <p14:creationId xmlns:p14="http://schemas.microsoft.com/office/powerpoint/2010/main" val="321261179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TextBox 1">
                <a:extLst>
                  <a:ext uri="{FF2B5EF4-FFF2-40B4-BE49-F238E27FC236}">
                    <a16:creationId xmlns:a16="http://schemas.microsoft.com/office/drawing/2014/main" id="{D8F75C0B-5ABC-C6BD-DCC0-8B84EA25A456}"/>
                  </a:ext>
                </a:extLst>
              </p:cNvPr>
              <p:cNvSpPr txBox="1"/>
              <p:nvPr/>
            </p:nvSpPr>
            <p:spPr>
              <a:xfrm>
                <a:off x="1464906" y="-9331"/>
                <a:ext cx="6699379" cy="6297237"/>
              </a:xfrm>
              <a:prstGeom prst="rect">
                <a:avLst/>
              </a:prstGeom>
              <a:noFill/>
            </p:spPr>
            <p:txBody>
              <a:bodyPr wrap="square" rtlCol="0">
                <a:spAutoFit/>
              </a:bodyPr>
              <a:lstStyle/>
              <a:p>
                <a:r>
                  <a:rPr lang="en-IN" sz="2400" b="1" dirty="0">
                    <a:latin typeface="Times New Roman" panose="02020603050405020304" pitchFamily="18" charset="0"/>
                    <a:cs typeface="Times New Roman" panose="02020603050405020304" pitchFamily="18" charset="0"/>
                  </a:rPr>
                  <a:t>5. Upper Bound for Outlier Detection</a:t>
                </a:r>
              </a:p>
              <a:p>
                <a:pPr/>
                <a14:m>
                  <m:oMathPara xmlns:m="http://schemas.openxmlformats.org/officeDocument/2006/math">
                    <m:oMathParaPr>
                      <m:jc m:val="centerGroup"/>
                    </m:oMathParaPr>
                    <m:oMath xmlns:m="http://schemas.openxmlformats.org/officeDocument/2006/math">
                      <m:r>
                        <m:rPr>
                          <m:nor/>
                        </m:rPr>
                        <a:rPr lang="en-IN" sz="2400">
                          <a:latin typeface="Times New Roman" panose="02020603050405020304" pitchFamily="18" charset="0"/>
                          <a:cs typeface="Times New Roman" panose="02020603050405020304" pitchFamily="18" charset="0"/>
                        </a:rPr>
                        <m:t>Upper</m:t>
                      </m:r>
                      <m:r>
                        <m:rPr>
                          <m:nor/>
                        </m:rPr>
                        <a:rPr lang="en-IN" sz="2400" i="1">
                          <a:latin typeface="Times New Roman" panose="02020603050405020304" pitchFamily="18" charset="0"/>
                          <a:cs typeface="Times New Roman" panose="02020603050405020304" pitchFamily="18" charset="0"/>
                        </a:rPr>
                        <m:t> </m:t>
                      </m:r>
                      <m:r>
                        <m:rPr>
                          <m:nor/>
                        </m:rPr>
                        <a:rPr lang="en-IN" sz="2400" i="1">
                          <a:latin typeface="Times New Roman" panose="02020603050405020304" pitchFamily="18" charset="0"/>
                          <a:cs typeface="Times New Roman" panose="02020603050405020304" pitchFamily="18" charset="0"/>
                        </a:rPr>
                        <m:t>Bound</m:t>
                      </m:r>
                      <m:r>
                        <a:rPr lang="en-IN" sz="2400">
                          <a:latin typeface="Cambria Math" panose="02040503050406030204" pitchFamily="18" charset="0"/>
                        </a:rPr>
                        <m:t>=</m:t>
                      </m:r>
                      <m:sSub>
                        <m:sSubPr>
                          <m:ctrlPr>
                            <a:rPr lang="en-IN" sz="2400" i="1">
                              <a:latin typeface="Cambria Math" panose="02040503050406030204" pitchFamily="18" charset="0"/>
                            </a:rPr>
                          </m:ctrlPr>
                        </m:sSubPr>
                        <m:e>
                          <m:r>
                            <a:rPr lang="en-IN" sz="2400" i="1">
                              <a:latin typeface="Cambria Math" panose="02040503050406030204" pitchFamily="18" charset="0"/>
                            </a:rPr>
                            <m:t>𝑄</m:t>
                          </m:r>
                        </m:e>
                        <m:sub>
                          <m:r>
                            <a:rPr lang="en-IN" sz="2400">
                              <a:latin typeface="Cambria Math" panose="02040503050406030204" pitchFamily="18" charset="0"/>
                            </a:rPr>
                            <m:t>3</m:t>
                          </m:r>
                        </m:sub>
                      </m:sSub>
                      <m:r>
                        <a:rPr lang="en-IN" sz="2400">
                          <a:latin typeface="Cambria Math" panose="02040503050406030204" pitchFamily="18" charset="0"/>
                        </a:rPr>
                        <m:t>+1.5</m:t>
                      </m:r>
                      <m:d>
                        <m:dPr>
                          <m:ctrlPr>
                            <a:rPr lang="en-IN" sz="2400" i="1">
                              <a:latin typeface="Cambria Math" panose="02040503050406030204" pitchFamily="18" charset="0"/>
                            </a:rPr>
                          </m:ctrlPr>
                        </m:dPr>
                        <m:e>
                          <m:r>
                            <a:rPr lang="en-IN" sz="2400" i="1">
                              <a:latin typeface="Cambria Math" panose="02040503050406030204" pitchFamily="18" charset="0"/>
                            </a:rPr>
                            <m:t>𝐼𝑄𝑅</m:t>
                          </m:r>
                        </m:e>
                      </m:d>
                    </m:oMath>
                  </m:oMathPara>
                </a14:m>
                <a:endParaRPr lang="en-IN" sz="2400" dirty="0">
                  <a:latin typeface="Times New Roman" panose="02020603050405020304" pitchFamily="18" charset="0"/>
                  <a:cs typeface="Times New Roman" panose="02020603050405020304" pitchFamily="18" charset="0"/>
                </a:endParaRPr>
              </a:p>
              <a:p>
                <a:br>
                  <a:rPr lang="en-IN" sz="2400" dirty="0">
                    <a:latin typeface="Times New Roman" panose="02020603050405020304" pitchFamily="18" charset="0"/>
                    <a:cs typeface="Times New Roman" panose="02020603050405020304" pitchFamily="18" charset="0"/>
                  </a:rPr>
                </a:br>
                <a:endParaRPr lang="en-IN" sz="2400" dirty="0">
                  <a:latin typeface="Times New Roman" panose="02020603050405020304" pitchFamily="18" charset="0"/>
                  <a:cs typeface="Times New Roman" panose="02020603050405020304" pitchFamily="18" charset="0"/>
                </a:endParaRPr>
              </a:p>
              <a:p>
                <a:r>
                  <a:rPr lang="en-IN" sz="2400" b="1" dirty="0">
                    <a:latin typeface="Times New Roman" panose="02020603050405020304" pitchFamily="18" charset="0"/>
                    <a:cs typeface="Times New Roman" panose="02020603050405020304" pitchFamily="18" charset="0"/>
                  </a:rPr>
                  <a:t>6. Log Transformation</a:t>
                </a:r>
              </a:p>
              <a:p>
                <a:pPr/>
                <a14:m>
                  <m:oMathPara xmlns:m="http://schemas.openxmlformats.org/officeDocument/2006/math">
                    <m:oMathParaPr>
                      <m:jc m:val="centerGroup"/>
                    </m:oMathParaPr>
                    <m:oMath xmlns:m="http://schemas.openxmlformats.org/officeDocument/2006/math">
                      <m:sSup>
                        <m:sSupPr>
                          <m:ctrlPr>
                            <a:rPr lang="en-IN" sz="2400" i="1">
                              <a:latin typeface="Cambria Math" panose="02040503050406030204" pitchFamily="18" charset="0"/>
                            </a:rPr>
                          </m:ctrlPr>
                        </m:sSupPr>
                        <m:e>
                          <m:r>
                            <a:rPr lang="en-IN" sz="2400" i="1">
                              <a:latin typeface="Cambria Math" panose="02040503050406030204" pitchFamily="18" charset="0"/>
                            </a:rPr>
                            <m:t>𝑋</m:t>
                          </m:r>
                        </m:e>
                        <m:sup>
                          <m:r>
                            <a:rPr lang="en-IN" sz="2400">
                              <a:latin typeface="Cambria Math" panose="02040503050406030204" pitchFamily="18" charset="0"/>
                            </a:rPr>
                            <m:t>′</m:t>
                          </m:r>
                        </m:sup>
                      </m:sSup>
                      <m:r>
                        <a:rPr lang="en-IN" sz="2400">
                          <a:latin typeface="Cambria Math" panose="02040503050406030204" pitchFamily="18" charset="0"/>
                        </a:rPr>
                        <m:t>=</m:t>
                      </m:r>
                      <m:r>
                        <m:rPr>
                          <m:sty m:val="p"/>
                        </m:rPr>
                        <a:rPr lang="en-IN" sz="2400">
                          <a:latin typeface="Cambria Math" panose="02040503050406030204" pitchFamily="18" charset="0"/>
                        </a:rPr>
                        <m:t>log</m:t>
                      </m:r>
                      <m:r>
                        <a:rPr lang="en-IN" sz="2400">
                          <a:latin typeface="Cambria Math" panose="02040503050406030204" pitchFamily="18" charset="0"/>
                        </a:rPr>
                        <m:t>⁡</m:t>
                      </m:r>
                      <m:d>
                        <m:dPr>
                          <m:ctrlPr>
                            <a:rPr lang="en-IN" sz="2400" i="1">
                              <a:latin typeface="Cambria Math" panose="02040503050406030204" pitchFamily="18" charset="0"/>
                            </a:rPr>
                          </m:ctrlPr>
                        </m:dPr>
                        <m:e>
                          <m:r>
                            <a:rPr lang="en-IN" sz="2400" i="1">
                              <a:latin typeface="Cambria Math" panose="02040503050406030204" pitchFamily="18" charset="0"/>
                            </a:rPr>
                            <m:t>𝑋</m:t>
                          </m:r>
                          <m:r>
                            <a:rPr lang="en-IN" sz="2400">
                              <a:latin typeface="Cambria Math" panose="02040503050406030204" pitchFamily="18" charset="0"/>
                            </a:rPr>
                            <m:t>+1</m:t>
                          </m:r>
                        </m:e>
                      </m:d>
                    </m:oMath>
                  </m:oMathPara>
                </a14:m>
                <a:endParaRPr lang="en-IN" sz="2400" dirty="0">
                  <a:latin typeface="Times New Roman" panose="02020603050405020304" pitchFamily="18" charset="0"/>
                  <a:cs typeface="Times New Roman" panose="02020603050405020304" pitchFamily="18" charset="0"/>
                </a:endParaRPr>
              </a:p>
              <a:p>
                <a:br>
                  <a:rPr lang="en-IN" sz="2400" dirty="0">
                    <a:latin typeface="Times New Roman" panose="02020603050405020304" pitchFamily="18" charset="0"/>
                    <a:cs typeface="Times New Roman" panose="02020603050405020304" pitchFamily="18" charset="0"/>
                  </a:rPr>
                </a:br>
                <a:endParaRPr lang="en-IN" sz="2400" dirty="0">
                  <a:latin typeface="Times New Roman" panose="02020603050405020304" pitchFamily="18" charset="0"/>
                  <a:cs typeface="Times New Roman" panose="02020603050405020304" pitchFamily="18" charset="0"/>
                </a:endParaRPr>
              </a:p>
              <a:p>
                <a:r>
                  <a:rPr lang="en-IN" sz="2400" b="1" dirty="0">
                    <a:latin typeface="Times New Roman" panose="02020603050405020304" pitchFamily="18" charset="0"/>
                    <a:cs typeface="Times New Roman" panose="02020603050405020304" pitchFamily="18" charset="0"/>
                  </a:rPr>
                  <a:t>7. Data Completeness</a:t>
                </a:r>
              </a:p>
              <a:p>
                <a:pPr/>
                <a14:m>
                  <m:oMathPara xmlns:m="http://schemas.openxmlformats.org/officeDocument/2006/math">
                    <m:oMathParaPr>
                      <m:jc m:val="centerGroup"/>
                    </m:oMathParaPr>
                    <m:oMath xmlns:m="http://schemas.openxmlformats.org/officeDocument/2006/math">
                      <m:r>
                        <m:rPr>
                          <m:nor/>
                        </m:rPr>
                        <a:rPr lang="en-IN" sz="2400">
                          <a:latin typeface="Times New Roman" panose="02020603050405020304" pitchFamily="18" charset="0"/>
                          <a:cs typeface="Times New Roman" panose="02020603050405020304" pitchFamily="18" charset="0"/>
                        </a:rPr>
                        <m:t>Completeness</m:t>
                      </m:r>
                      <m:r>
                        <a:rPr lang="en-IN" sz="2400">
                          <a:latin typeface="Cambria Math" panose="02040503050406030204" pitchFamily="18" charset="0"/>
                        </a:rPr>
                        <m:t>=</m:t>
                      </m:r>
                      <m:f>
                        <m:fPr>
                          <m:ctrlPr>
                            <a:rPr lang="en-IN" sz="2400" i="1">
                              <a:latin typeface="Cambria Math" panose="02040503050406030204" pitchFamily="18" charset="0"/>
                            </a:rPr>
                          </m:ctrlPr>
                        </m:fPr>
                        <m:num>
                          <m:r>
                            <m:rPr>
                              <m:nor/>
                            </m:rPr>
                            <a:rPr lang="en-IN" sz="2400" i="1">
                              <a:latin typeface="Times New Roman" panose="02020603050405020304" pitchFamily="18" charset="0"/>
                              <a:cs typeface="Times New Roman" panose="02020603050405020304" pitchFamily="18" charset="0"/>
                            </a:rPr>
                            <m:t>Available</m:t>
                          </m:r>
                          <m:r>
                            <m:rPr>
                              <m:nor/>
                            </m:rPr>
                            <a:rPr lang="en-IN" sz="2400" i="1">
                              <a:latin typeface="Times New Roman" panose="02020603050405020304" pitchFamily="18" charset="0"/>
                              <a:cs typeface="Times New Roman" panose="02020603050405020304" pitchFamily="18" charset="0"/>
                            </a:rPr>
                            <m:t> </m:t>
                          </m:r>
                          <m:r>
                            <m:rPr>
                              <m:nor/>
                            </m:rPr>
                            <a:rPr lang="en-IN" sz="2400" i="1">
                              <a:latin typeface="Times New Roman" panose="02020603050405020304" pitchFamily="18" charset="0"/>
                              <a:cs typeface="Times New Roman" panose="02020603050405020304" pitchFamily="18" charset="0"/>
                            </a:rPr>
                            <m:t>Values</m:t>
                          </m:r>
                        </m:num>
                        <m:den>
                          <m:r>
                            <m:rPr>
                              <m:nor/>
                            </m:rPr>
                            <a:rPr lang="en-IN" sz="2400" i="1">
                              <a:latin typeface="Times New Roman" panose="02020603050405020304" pitchFamily="18" charset="0"/>
                              <a:cs typeface="Times New Roman" panose="02020603050405020304" pitchFamily="18" charset="0"/>
                            </a:rPr>
                            <m:t>Total</m:t>
                          </m:r>
                          <m:r>
                            <m:rPr>
                              <m:nor/>
                            </m:rPr>
                            <a:rPr lang="en-IN" sz="2400" i="1">
                              <a:latin typeface="Times New Roman" panose="02020603050405020304" pitchFamily="18" charset="0"/>
                              <a:cs typeface="Times New Roman" panose="02020603050405020304" pitchFamily="18" charset="0"/>
                            </a:rPr>
                            <m:t> </m:t>
                          </m:r>
                          <m:r>
                            <m:rPr>
                              <m:nor/>
                            </m:rPr>
                            <a:rPr lang="en-IN" sz="2400" i="1">
                              <a:latin typeface="Times New Roman" panose="02020603050405020304" pitchFamily="18" charset="0"/>
                              <a:cs typeface="Times New Roman" panose="02020603050405020304" pitchFamily="18" charset="0"/>
                            </a:rPr>
                            <m:t>Values</m:t>
                          </m:r>
                        </m:den>
                      </m:f>
                      <m:r>
                        <a:rPr lang="en-IN" sz="2400">
                          <a:latin typeface="Cambria Math" panose="02040503050406030204" pitchFamily="18" charset="0"/>
                        </a:rPr>
                        <m:t>×100</m:t>
                      </m:r>
                    </m:oMath>
                  </m:oMathPara>
                </a14:m>
                <a:endParaRPr lang="en-IN" sz="2400" dirty="0">
                  <a:latin typeface="Times New Roman" panose="02020603050405020304" pitchFamily="18" charset="0"/>
                  <a:cs typeface="Times New Roman" panose="02020603050405020304" pitchFamily="18" charset="0"/>
                </a:endParaRPr>
              </a:p>
              <a:p>
                <a:br>
                  <a:rPr lang="en-IN" sz="2400" dirty="0">
                    <a:latin typeface="Times New Roman" panose="02020603050405020304" pitchFamily="18" charset="0"/>
                    <a:cs typeface="Times New Roman" panose="02020603050405020304" pitchFamily="18" charset="0"/>
                  </a:rPr>
                </a:br>
                <a:endParaRPr lang="en-IN" sz="2400" dirty="0">
                  <a:latin typeface="Times New Roman" panose="02020603050405020304" pitchFamily="18" charset="0"/>
                  <a:cs typeface="Times New Roman" panose="02020603050405020304" pitchFamily="18" charset="0"/>
                </a:endParaRPr>
              </a:p>
              <a:p>
                <a:r>
                  <a:rPr lang="en-IN" sz="2400" b="1" dirty="0">
                    <a:latin typeface="Times New Roman" panose="02020603050405020304" pitchFamily="18" charset="0"/>
                    <a:cs typeface="Times New Roman" panose="02020603050405020304" pitchFamily="18" charset="0"/>
                  </a:rPr>
                  <a:t>8. Data Accuracy</a:t>
                </a:r>
              </a:p>
              <a:p>
                <a:pPr/>
                <a14:m>
                  <m:oMathPara xmlns:m="http://schemas.openxmlformats.org/officeDocument/2006/math">
                    <m:oMathParaPr>
                      <m:jc m:val="centerGroup"/>
                    </m:oMathParaPr>
                    <m:oMath xmlns:m="http://schemas.openxmlformats.org/officeDocument/2006/math">
                      <m:r>
                        <m:rPr>
                          <m:nor/>
                        </m:rPr>
                        <a:rPr lang="en-IN" sz="2400">
                          <a:latin typeface="Times New Roman" panose="02020603050405020304" pitchFamily="18" charset="0"/>
                          <a:cs typeface="Times New Roman" panose="02020603050405020304" pitchFamily="18" charset="0"/>
                        </a:rPr>
                        <m:t>Accuracy</m:t>
                      </m:r>
                      <m:r>
                        <a:rPr lang="en-IN" sz="2400">
                          <a:latin typeface="Cambria Math" panose="02040503050406030204" pitchFamily="18" charset="0"/>
                        </a:rPr>
                        <m:t>=</m:t>
                      </m:r>
                      <m:f>
                        <m:fPr>
                          <m:ctrlPr>
                            <a:rPr lang="en-IN" sz="2400" i="1">
                              <a:latin typeface="Cambria Math" panose="02040503050406030204" pitchFamily="18" charset="0"/>
                            </a:rPr>
                          </m:ctrlPr>
                        </m:fPr>
                        <m:num>
                          <m:r>
                            <m:rPr>
                              <m:nor/>
                            </m:rPr>
                            <a:rPr lang="en-IN" sz="2400" i="1">
                              <a:latin typeface="Times New Roman" panose="02020603050405020304" pitchFamily="18" charset="0"/>
                              <a:cs typeface="Times New Roman" panose="02020603050405020304" pitchFamily="18" charset="0"/>
                            </a:rPr>
                            <m:t>Correct</m:t>
                          </m:r>
                          <m:r>
                            <m:rPr>
                              <m:nor/>
                            </m:rPr>
                            <a:rPr lang="en-IN" sz="2400" i="1">
                              <a:latin typeface="Times New Roman" panose="02020603050405020304" pitchFamily="18" charset="0"/>
                              <a:cs typeface="Times New Roman" panose="02020603050405020304" pitchFamily="18" charset="0"/>
                            </a:rPr>
                            <m:t> </m:t>
                          </m:r>
                          <m:r>
                            <m:rPr>
                              <m:nor/>
                            </m:rPr>
                            <a:rPr lang="en-IN" sz="2400" i="1">
                              <a:latin typeface="Times New Roman" panose="02020603050405020304" pitchFamily="18" charset="0"/>
                              <a:cs typeface="Times New Roman" panose="02020603050405020304" pitchFamily="18" charset="0"/>
                            </a:rPr>
                            <m:t>Records</m:t>
                          </m:r>
                        </m:num>
                        <m:den>
                          <m:r>
                            <m:rPr>
                              <m:nor/>
                            </m:rPr>
                            <a:rPr lang="en-IN" sz="2400" i="1">
                              <a:latin typeface="Times New Roman" panose="02020603050405020304" pitchFamily="18" charset="0"/>
                              <a:cs typeface="Times New Roman" panose="02020603050405020304" pitchFamily="18" charset="0"/>
                            </a:rPr>
                            <m:t>Total</m:t>
                          </m:r>
                          <m:r>
                            <m:rPr>
                              <m:nor/>
                            </m:rPr>
                            <a:rPr lang="en-IN" sz="2400" i="1">
                              <a:latin typeface="Times New Roman" panose="02020603050405020304" pitchFamily="18" charset="0"/>
                              <a:cs typeface="Times New Roman" panose="02020603050405020304" pitchFamily="18" charset="0"/>
                            </a:rPr>
                            <m:t> </m:t>
                          </m:r>
                          <m:r>
                            <m:rPr>
                              <m:nor/>
                            </m:rPr>
                            <a:rPr lang="en-IN" sz="2400" i="1">
                              <a:latin typeface="Times New Roman" panose="02020603050405020304" pitchFamily="18" charset="0"/>
                              <a:cs typeface="Times New Roman" panose="02020603050405020304" pitchFamily="18" charset="0"/>
                            </a:rPr>
                            <m:t>Records</m:t>
                          </m:r>
                        </m:den>
                      </m:f>
                      <m:r>
                        <a:rPr lang="en-IN" sz="2400">
                          <a:latin typeface="Cambria Math" panose="02040503050406030204" pitchFamily="18" charset="0"/>
                        </a:rPr>
                        <m:t>×100</m:t>
                      </m:r>
                    </m:oMath>
                  </m:oMathPara>
                </a14:m>
                <a:endParaRPr lang="en-IN" sz="2400" dirty="0">
                  <a:latin typeface="Times New Roman" panose="02020603050405020304" pitchFamily="18" charset="0"/>
                  <a:cs typeface="Times New Roman" panose="02020603050405020304" pitchFamily="18" charset="0"/>
                </a:endParaRPr>
              </a:p>
              <a:p>
                <a:endParaRPr lang="en-IN" sz="2400" dirty="0"/>
              </a:p>
            </p:txBody>
          </p:sp>
        </mc:Choice>
        <mc:Fallback xmlns="">
          <p:sp>
            <p:nvSpPr>
              <p:cNvPr id="2" name="TextBox 1">
                <a:extLst>
                  <a:ext uri="{FF2B5EF4-FFF2-40B4-BE49-F238E27FC236}">
                    <a16:creationId xmlns:a16="http://schemas.microsoft.com/office/drawing/2014/main" id="{D8F75C0B-5ABC-C6BD-DCC0-8B84EA25A456}"/>
                  </a:ext>
                </a:extLst>
              </p:cNvPr>
              <p:cNvSpPr txBox="1">
                <a:spLocks noRot="1" noChangeAspect="1" noMove="1" noResize="1" noEditPoints="1" noAdjustHandles="1" noChangeArrowheads="1" noChangeShapeType="1" noTextEdit="1"/>
              </p:cNvSpPr>
              <p:nvPr/>
            </p:nvSpPr>
            <p:spPr>
              <a:xfrm>
                <a:off x="1464906" y="-9331"/>
                <a:ext cx="6699379" cy="6297237"/>
              </a:xfrm>
              <a:prstGeom prst="rect">
                <a:avLst/>
              </a:prstGeom>
              <a:blipFill>
                <a:blip r:embed="rId2"/>
                <a:stretch>
                  <a:fillRect l="-1365" t="-774"/>
                </a:stretch>
              </a:blipFill>
            </p:spPr>
            <p:txBody>
              <a:bodyPr/>
              <a:lstStyle/>
              <a:p>
                <a:r>
                  <a:rPr lang="en-IN">
                    <a:noFill/>
                  </a:rPr>
                  <a:t> </a:t>
                </a:r>
              </a:p>
            </p:txBody>
          </p:sp>
        </mc:Fallback>
      </mc:AlternateContent>
    </p:spTree>
    <p:extLst>
      <p:ext uri="{BB962C8B-B14F-4D97-AF65-F5344CB8AC3E}">
        <p14:creationId xmlns:p14="http://schemas.microsoft.com/office/powerpoint/2010/main" val="415947835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6823FDF5-3D6C-2DC8-1F3D-1D59C0B2CC0C}"/>
              </a:ext>
            </a:extLst>
          </p:cNvPr>
          <p:cNvSpPr txBox="1"/>
          <p:nvPr/>
        </p:nvSpPr>
        <p:spPr>
          <a:xfrm>
            <a:off x="1158240" y="148531"/>
            <a:ext cx="9585960" cy="769441"/>
          </a:xfrm>
          <a:prstGeom prst="rect">
            <a:avLst/>
          </a:prstGeom>
          <a:noFill/>
        </p:spPr>
        <p:txBody>
          <a:bodyPr wrap="square" rtlCol="0">
            <a:spAutoFit/>
          </a:bodyPr>
          <a:lstStyle/>
          <a:p>
            <a:r>
              <a:rPr lang="en-IN" sz="4400" dirty="0">
                <a:latin typeface="Times New Roman" panose="02020603050405020304" pitchFamily="18" charset="0"/>
                <a:cs typeface="Times New Roman" panose="02020603050405020304" pitchFamily="18" charset="0"/>
              </a:rPr>
              <a:t>CONCLUSION AND FUTURE SCOPE</a:t>
            </a:r>
          </a:p>
        </p:txBody>
      </p:sp>
      <p:sp>
        <p:nvSpPr>
          <p:cNvPr id="3" name="TextBox 2">
            <a:extLst>
              <a:ext uri="{FF2B5EF4-FFF2-40B4-BE49-F238E27FC236}">
                <a16:creationId xmlns:a16="http://schemas.microsoft.com/office/drawing/2014/main" id="{892CF6F1-FAF7-4AAD-3508-5EA19C403752}"/>
              </a:ext>
            </a:extLst>
          </p:cNvPr>
          <p:cNvSpPr txBox="1"/>
          <p:nvPr/>
        </p:nvSpPr>
        <p:spPr>
          <a:xfrm>
            <a:off x="1158240" y="917972"/>
            <a:ext cx="10287000" cy="6370975"/>
          </a:xfrm>
          <a:prstGeom prst="rect">
            <a:avLst/>
          </a:prstGeom>
          <a:noFill/>
        </p:spPr>
        <p:txBody>
          <a:bodyPr wrap="square" rtlCol="0">
            <a:spAutoFit/>
          </a:bodyPr>
          <a:lstStyle/>
          <a:p>
            <a:r>
              <a:rPr lang="en-IN" sz="2400" b="1" dirty="0">
                <a:latin typeface="Times New Roman" panose="02020603050405020304" pitchFamily="18" charset="0"/>
                <a:cs typeface="Times New Roman" panose="02020603050405020304" pitchFamily="18" charset="0"/>
              </a:rPr>
              <a:t>Conclusion</a:t>
            </a:r>
          </a:p>
          <a:p>
            <a:r>
              <a:rPr lang="en-IN" sz="2400" dirty="0">
                <a:latin typeface="Times New Roman" panose="02020603050405020304" pitchFamily="18" charset="0"/>
                <a:cs typeface="Times New Roman" panose="02020603050405020304" pitchFamily="18" charset="0"/>
              </a:rPr>
              <a:t>The E-Commerce Customer Behaviour Dataset was successfully analysed using Data Science preprocessing techniques. Missing values, duplicate records, and outliers were identified and handled effectively. Data transformation techniques improved the usability of the dataset, while data quality checks ensured consistency and reliability. The project successfully demonstrates all concepts covered under CO-1 and prepares the dataset for advanced analytical applications.</a:t>
            </a:r>
          </a:p>
          <a:p>
            <a:r>
              <a:rPr lang="en-IN" sz="2400" b="1" dirty="0">
                <a:latin typeface="Times New Roman" panose="02020603050405020304" pitchFamily="18" charset="0"/>
                <a:cs typeface="Times New Roman" panose="02020603050405020304" pitchFamily="18" charset="0"/>
              </a:rPr>
              <a:t>Future Scope</a:t>
            </a:r>
          </a:p>
          <a:p>
            <a:pPr marL="342900" indent="-342900">
              <a:buFont typeface="Courier New" panose="02070309020205020404" pitchFamily="49" charset="0"/>
              <a:buChar char="o"/>
            </a:pPr>
            <a:r>
              <a:rPr lang="en-IN" sz="2400" dirty="0">
                <a:latin typeface="Times New Roman" panose="02020603050405020304" pitchFamily="18" charset="0"/>
                <a:cs typeface="Times New Roman" panose="02020603050405020304" pitchFamily="18" charset="0"/>
              </a:rPr>
              <a:t>Customer Segmentation</a:t>
            </a:r>
          </a:p>
          <a:p>
            <a:pPr marL="342900" indent="-342900">
              <a:buFont typeface="Courier New" panose="02070309020205020404" pitchFamily="49" charset="0"/>
              <a:buChar char="o"/>
            </a:pPr>
            <a:r>
              <a:rPr lang="en-IN" sz="2400" dirty="0">
                <a:latin typeface="Times New Roman" panose="02020603050405020304" pitchFamily="18" charset="0"/>
                <a:cs typeface="Times New Roman" panose="02020603050405020304" pitchFamily="18" charset="0"/>
              </a:rPr>
              <a:t>Product Recommendation System</a:t>
            </a:r>
          </a:p>
          <a:p>
            <a:pPr marL="342900" indent="-342900">
              <a:buFont typeface="Courier New" panose="02070309020205020404" pitchFamily="49" charset="0"/>
              <a:buChar char="o"/>
            </a:pPr>
            <a:r>
              <a:rPr lang="en-IN" sz="2400" dirty="0">
                <a:latin typeface="Times New Roman" panose="02020603050405020304" pitchFamily="18" charset="0"/>
                <a:cs typeface="Times New Roman" panose="02020603050405020304" pitchFamily="18" charset="0"/>
              </a:rPr>
              <a:t>Customer Purchase Prediction</a:t>
            </a:r>
          </a:p>
          <a:p>
            <a:pPr marL="342900" indent="-342900">
              <a:buFont typeface="Courier New" panose="02070309020205020404" pitchFamily="49" charset="0"/>
              <a:buChar char="o"/>
            </a:pPr>
            <a:r>
              <a:rPr lang="en-IN" sz="2400" dirty="0">
                <a:latin typeface="Times New Roman" panose="02020603050405020304" pitchFamily="18" charset="0"/>
                <a:cs typeface="Times New Roman" panose="02020603050405020304" pitchFamily="18" charset="0"/>
              </a:rPr>
              <a:t>Sales Forecasting</a:t>
            </a:r>
          </a:p>
          <a:p>
            <a:pPr marL="342900" indent="-342900">
              <a:buFont typeface="Courier New" panose="02070309020205020404" pitchFamily="49" charset="0"/>
              <a:buChar char="o"/>
            </a:pPr>
            <a:r>
              <a:rPr lang="en-IN" sz="2400" dirty="0">
                <a:latin typeface="Times New Roman" panose="02020603050405020304" pitchFamily="18" charset="0"/>
                <a:cs typeface="Times New Roman" panose="02020603050405020304" pitchFamily="18" charset="0"/>
              </a:rPr>
              <a:t>Fraud Detection</a:t>
            </a:r>
          </a:p>
          <a:p>
            <a:pPr marL="342900" indent="-342900">
              <a:buFont typeface="Courier New" panose="02070309020205020404" pitchFamily="49" charset="0"/>
              <a:buChar char="o"/>
            </a:pPr>
            <a:r>
              <a:rPr lang="en-IN" sz="2400" dirty="0">
                <a:latin typeface="Times New Roman" panose="02020603050405020304" pitchFamily="18" charset="0"/>
                <a:cs typeface="Times New Roman" panose="02020603050405020304" pitchFamily="18" charset="0"/>
              </a:rPr>
              <a:t>Customer Lifetime Value Analysis</a:t>
            </a:r>
          </a:p>
          <a:p>
            <a:pPr marL="342900" indent="-342900">
              <a:buFont typeface="Courier New" panose="02070309020205020404" pitchFamily="49" charset="0"/>
              <a:buChar char="o"/>
            </a:pPr>
            <a:r>
              <a:rPr lang="en-IN" sz="2400" dirty="0">
                <a:latin typeface="Times New Roman" panose="02020603050405020304" pitchFamily="18" charset="0"/>
                <a:cs typeface="Times New Roman" panose="02020603050405020304" pitchFamily="18" charset="0"/>
              </a:rPr>
              <a:t>Machine Learning Model Development</a:t>
            </a:r>
          </a:p>
          <a:p>
            <a:pPr marL="342900" indent="-342900">
              <a:buFont typeface="Courier New" panose="02070309020205020404" pitchFamily="49" charset="0"/>
              <a:buChar char="o"/>
            </a:pPr>
            <a:r>
              <a:rPr lang="en-IN" sz="2400" dirty="0">
                <a:latin typeface="Times New Roman" panose="02020603050405020304" pitchFamily="18" charset="0"/>
                <a:cs typeface="Times New Roman" panose="02020603050405020304" pitchFamily="18" charset="0"/>
              </a:rPr>
              <a:t>Real-Time Customer Behaviour Analytics</a:t>
            </a:r>
          </a:p>
          <a:p>
            <a:endParaRPr lang="en-IN"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30675982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C51A0ECF-288D-557C-FA0B-F25BA70A4C9B}"/>
              </a:ext>
            </a:extLst>
          </p:cNvPr>
          <p:cNvSpPr txBox="1"/>
          <p:nvPr/>
        </p:nvSpPr>
        <p:spPr>
          <a:xfrm>
            <a:off x="2108718" y="2644170"/>
            <a:ext cx="9265298" cy="1569660"/>
          </a:xfrm>
          <a:prstGeom prst="rect">
            <a:avLst/>
          </a:prstGeom>
          <a:noFill/>
        </p:spPr>
        <p:txBody>
          <a:bodyPr wrap="square" rtlCol="0">
            <a:spAutoFit/>
          </a:bodyPr>
          <a:lstStyle/>
          <a:p>
            <a:r>
              <a:rPr lang="en-IN" sz="9600" dirty="0">
                <a:latin typeface="Times New Roman" panose="02020603050405020304" pitchFamily="18" charset="0"/>
                <a:cs typeface="Times New Roman" panose="02020603050405020304" pitchFamily="18" charset="0"/>
              </a:rPr>
              <a:t>THANK YOU</a:t>
            </a:r>
          </a:p>
        </p:txBody>
      </p:sp>
    </p:spTree>
    <p:extLst>
      <p:ext uri="{BB962C8B-B14F-4D97-AF65-F5344CB8AC3E}">
        <p14:creationId xmlns:p14="http://schemas.microsoft.com/office/powerpoint/2010/main" val="2529187010"/>
      </p:ext>
    </p:extLst>
  </p:cSld>
  <p:clrMapOvr>
    <a:masterClrMapping/>
  </p:clrMapOvr>
</p:sld>
</file>

<file path=ppt/theme/theme1.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5FCBEF"/>
      </a:accent1>
      <a:accent2>
        <a:srgbClr val="2E83C3"/>
      </a:accent2>
      <a:accent3>
        <a:srgbClr val="42D0A2"/>
      </a:accent3>
      <a:accent4>
        <a:srgbClr val="2E946B"/>
      </a:accent4>
      <a:accent5>
        <a:srgbClr val="42B051"/>
      </a:accent5>
      <a:accent6>
        <a:srgbClr val="96D141"/>
      </a:accent6>
      <a:hlink>
        <a:srgbClr val="3FCDE7"/>
      </a:hlink>
      <a:folHlink>
        <a:srgbClr val="A9D3E1"/>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0B5AB586-D108-4FC1-8368-649FE654B894}"/>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11" ma:contentTypeDescription="Create a new document." ma:contentTypeScope="" ma:versionID="96291512c1ee715ab617f4c07df79fc1">
  <xsd:schema xmlns:xsd="http://www.w3.org/2001/XMLSchema" xmlns:xs="http://www.w3.org/2001/XMLSchema" xmlns:p="http://schemas.microsoft.com/office/2006/metadata/properties" xmlns:ns2="71af3243-3dd4-4a8d-8c0d-dd76da1f02a5" xmlns:ns3="16c05727-aa75-4e4a-9b5f-8a80a1165891" targetNamespace="http://schemas.microsoft.com/office/2006/metadata/properties" ma:root="true" ma:fieldsID="8256c27c40ca5c40ce1cf6c44f0205df" ns2:_="" ns3:_="">
    <xsd:import namespace="71af3243-3dd4-4a8d-8c0d-dd76da1f02a5"/>
    <xsd:import namespace="16c05727-aa75-4e4a-9b5f-8a80a1165891"/>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element name="MediaServiceAutoTags" ma:index="11" nillable="true" ma:displayName="MediaServiceAutoTags"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fals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MediaServiceKeyPoints xmlns="71af3243-3dd4-4a8d-8c0d-dd76da1f02a5" xsi:nil="true"/>
  </documentManagement>
</p:properties>
</file>

<file path=customXml/itemProps1.xml><?xml version="1.0" encoding="utf-8"?>
<ds:datastoreItem xmlns:ds="http://schemas.openxmlformats.org/officeDocument/2006/customXml" ds:itemID="{A7C0B241-13E5-418D-8920-D23491E2D2C0}">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1af3243-3dd4-4a8d-8c0d-dd76da1f02a5"/>
    <ds:schemaRef ds:uri="16c05727-aa75-4e4a-9b5f-8a80a116589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B579702B-25C7-40D7-9E29-7686B11A9660}">
  <ds:schemaRefs>
    <ds:schemaRef ds:uri="http://schemas.microsoft.com/sharepoint/v3/contenttype/forms"/>
  </ds:schemaRefs>
</ds:datastoreItem>
</file>

<file path=customXml/itemProps3.xml><?xml version="1.0" encoding="utf-8"?>
<ds:datastoreItem xmlns:ds="http://schemas.openxmlformats.org/officeDocument/2006/customXml" ds:itemID="{E7866CFD-F94E-4AE5-ACEA-86FEC0F48A10}">
  <ds:schemaRefs>
    <ds:schemaRef ds:uri="http://schemas.microsoft.com/office/2006/metadata/properties"/>
    <ds:schemaRef ds:uri="http://schemas.microsoft.com/office/infopath/2007/PartnerControls"/>
    <ds:schemaRef ds:uri="71af3243-3dd4-4a8d-8c0d-dd76da1f02a5"/>
  </ds:schemaRefs>
</ds:datastoreItem>
</file>

<file path=docProps/app.xml><?xml version="1.0" encoding="utf-8"?>
<Properties xmlns="http://schemas.openxmlformats.org/officeDocument/2006/extended-properties" xmlns:vt="http://schemas.openxmlformats.org/officeDocument/2006/docPropsVTypes">
  <Template>Facet</Template>
  <TotalTime>62</TotalTime>
  <Words>981</Words>
  <Application>Microsoft Office PowerPoint</Application>
  <PresentationFormat>Widescreen</PresentationFormat>
  <Paragraphs>209</Paragraphs>
  <Slides>14</Slides>
  <Notes>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14</vt:i4>
      </vt:variant>
    </vt:vector>
  </HeadingPairs>
  <TitlesOfParts>
    <vt:vector size="22" baseType="lpstr">
      <vt:lpstr>Arial</vt:lpstr>
      <vt:lpstr>Calibri</vt:lpstr>
      <vt:lpstr>Cambria Math</vt:lpstr>
      <vt:lpstr>Courier New</vt:lpstr>
      <vt:lpstr>Times New Roman</vt:lpstr>
      <vt:lpstr>Trebuchet MS</vt:lpstr>
      <vt:lpstr>Wingdings 3</vt:lpstr>
      <vt:lpstr>Facet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mvijayalakshmi2007@outlook.com</dc:creator>
  <cp:lastModifiedBy>potlabathini shashanth</cp:lastModifiedBy>
  <cp:revision>4</cp:revision>
  <dcterms:created xsi:type="dcterms:W3CDTF">2026-06-04T00:19:56Z</dcterms:created>
  <dcterms:modified xsi:type="dcterms:W3CDTF">2026-06-04T09:55:44Z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