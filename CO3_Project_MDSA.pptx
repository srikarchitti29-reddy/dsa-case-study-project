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4"/>
  </p:sldMasterIdLst>
  <p:notesMasterIdLst>
    <p:notesMasterId r:id="rId20"/>
  </p:notesMasterIdLst>
  <p:handoutMasterIdLst>
    <p:handoutMasterId r:id="rId21"/>
  </p:handoutMasterIdLst>
  <p:sldIdLst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5" r:id="rId14"/>
    <p:sldId id="274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94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9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6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92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72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0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59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86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99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4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074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02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3502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677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803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8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2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6DB97F-FA67-1D9C-2D71-3558A3FF771A}"/>
              </a:ext>
            </a:extLst>
          </p:cNvPr>
          <p:cNvSpPr txBox="1"/>
          <p:nvPr/>
        </p:nvSpPr>
        <p:spPr>
          <a:xfrm>
            <a:off x="4299285" y="291082"/>
            <a:ext cx="54222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25MT1306E</a:t>
            </a:r>
          </a:p>
          <a:p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0C294-7BC1-FD6F-E32A-48CE54C8DA32}"/>
              </a:ext>
            </a:extLst>
          </p:cNvPr>
          <p:cNvSpPr txBox="1"/>
          <p:nvPr/>
        </p:nvSpPr>
        <p:spPr>
          <a:xfrm>
            <a:off x="994610" y="1014357"/>
            <a:ext cx="110690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DATA SCIENCE AND ANALYTICS (MDSA)</a:t>
            </a:r>
          </a:p>
          <a:p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5CF71-F232-E860-AFC3-9DFA48D539EB}"/>
              </a:ext>
            </a:extLst>
          </p:cNvPr>
          <p:cNvSpPr txBox="1"/>
          <p:nvPr/>
        </p:nvSpPr>
        <p:spPr>
          <a:xfrm>
            <a:off x="994610" y="1737632"/>
            <a:ext cx="43794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</a:p>
          <a:p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B8D46-75C0-A672-8468-F988629F0910}"/>
              </a:ext>
            </a:extLst>
          </p:cNvPr>
          <p:cNvSpPr txBox="1"/>
          <p:nvPr/>
        </p:nvSpPr>
        <p:spPr>
          <a:xfrm>
            <a:off x="3753854" y="1674674"/>
            <a:ext cx="8438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CUSTOMER BEHAVIOR ANALYSIS USING DATA SCIENCE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8FB48-B312-843F-B6A9-EC57EDBFB2E8}"/>
              </a:ext>
            </a:extLst>
          </p:cNvPr>
          <p:cNvSpPr txBox="1"/>
          <p:nvPr/>
        </p:nvSpPr>
        <p:spPr>
          <a:xfrm>
            <a:off x="1300470" y="3679847"/>
            <a:ext cx="6801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JANGIRALA RAKSHITHA- 2520090212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PENMATSA GOWTHAM VARMA-2520090202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POTLABTHINI SHASHANTH-2520090211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- 03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 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Dr.B.TULASI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30396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ED6D3-EC7B-8EC2-207B-5B20355E798E}"/>
              </a:ext>
            </a:extLst>
          </p:cNvPr>
          <p:cNvSpPr txBox="1"/>
          <p:nvPr/>
        </p:nvSpPr>
        <p:spPr>
          <a:xfrm>
            <a:off x="1524000" y="0"/>
            <a:ext cx="70264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</a:p>
          <a:p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399B4-3F31-C637-5A21-7AA0265BDC64}"/>
              </a:ext>
            </a:extLst>
          </p:cNvPr>
          <p:cNvSpPr txBox="1"/>
          <p:nvPr/>
        </p:nvSpPr>
        <p:spPr>
          <a:xfrm>
            <a:off x="1700463" y="1102578"/>
            <a:ext cx="17646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  <a:p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2DBA1-790D-8636-0021-1F81D8D50447}"/>
              </a:ext>
            </a:extLst>
          </p:cNvPr>
          <p:cNvSpPr txBox="1"/>
          <p:nvPr/>
        </p:nvSpPr>
        <p:spPr>
          <a:xfrm>
            <a:off x="2999874" y="1220463"/>
            <a:ext cx="880711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AutoNum type="arabicPlain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Mapping For The Project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&amp; Python Implementation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0506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7E296-D785-F2F6-D54F-BC50DF1A8A74}"/>
              </a:ext>
            </a:extLst>
          </p:cNvPr>
          <p:cNvSpPr txBox="1"/>
          <p:nvPr/>
        </p:nvSpPr>
        <p:spPr>
          <a:xfrm>
            <a:off x="1540042" y="368969"/>
            <a:ext cx="47324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B2E79-D8F9-CAF1-3828-90EAF9D5B00E}"/>
              </a:ext>
            </a:extLst>
          </p:cNvPr>
          <p:cNvSpPr txBox="1"/>
          <p:nvPr/>
        </p:nvSpPr>
        <p:spPr>
          <a:xfrm>
            <a:off x="1540042" y="1299411"/>
            <a:ext cx="92402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generate large amounts of customer activity data, including product views, cart additions, and purchases. Understanding the probability of customer actions helps businesses predict purchasing behaviour and make data-driven decisions.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probability concepts to analyse customer interactions in the E-Commerce Behaviour Dataset. Concepts such as sample space, events, conditional probability, Bayes theorem, random variables, probability distributions, expectation, and variance are used to study customer behaviour patterns and purchasing likelihood.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52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C53C3-B26F-ECC8-61C3-FF3975ED7466}"/>
              </a:ext>
            </a:extLst>
          </p:cNvPr>
          <p:cNvSpPr txBox="1"/>
          <p:nvPr/>
        </p:nvSpPr>
        <p:spPr>
          <a:xfrm>
            <a:off x="1379621" y="385011"/>
            <a:ext cx="70745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TOPICS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D8DD9-0F8C-59BF-C7AC-4F3BCBCA9A4E}"/>
              </a:ext>
            </a:extLst>
          </p:cNvPr>
          <p:cNvSpPr txBox="1"/>
          <p:nvPr/>
        </p:nvSpPr>
        <p:spPr>
          <a:xfrm>
            <a:off x="1524000" y="1154452"/>
            <a:ext cx="70745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Probability Concepts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 and Events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Calculations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Random Variables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Random Variables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Bernoulli Distribution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Binomial Distribution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 (Expected Value)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Reasoning in Data Analysis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5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C01F9-874D-892D-5F01-6230192676E5}"/>
              </a:ext>
            </a:extLst>
          </p:cNvPr>
          <p:cNvSpPr txBox="1"/>
          <p:nvPr/>
        </p:nvSpPr>
        <p:spPr>
          <a:xfrm>
            <a:off x="1299411" y="176463"/>
            <a:ext cx="59837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D625B9-3F4E-7654-1D83-7DB5B8D7B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966399"/>
              </p:ext>
            </p:extLst>
          </p:nvPr>
        </p:nvGraphicFramePr>
        <p:xfrm>
          <a:off x="1299411" y="945904"/>
          <a:ext cx="10301502" cy="5477680"/>
        </p:xfrm>
        <a:graphic>
          <a:graphicData uri="http://schemas.openxmlformats.org/drawingml/2006/table">
            <a:tbl>
              <a:tblPr/>
              <a:tblGrid>
                <a:gridCol w="3433834">
                  <a:extLst>
                    <a:ext uri="{9D8B030D-6E8A-4147-A177-3AD203B41FA5}">
                      <a16:colId xmlns:a16="http://schemas.microsoft.com/office/drawing/2014/main" val="2462719618"/>
                    </a:ext>
                  </a:extLst>
                </a:gridCol>
                <a:gridCol w="3433834">
                  <a:extLst>
                    <a:ext uri="{9D8B030D-6E8A-4147-A177-3AD203B41FA5}">
                      <a16:colId xmlns:a16="http://schemas.microsoft.com/office/drawing/2014/main" val="1022520466"/>
                    </a:ext>
                  </a:extLst>
                </a:gridCol>
                <a:gridCol w="3433834">
                  <a:extLst>
                    <a:ext uri="{9D8B030D-6E8A-4147-A177-3AD203B41FA5}">
                      <a16:colId xmlns:a16="http://schemas.microsoft.com/office/drawing/2014/main" val="1472403383"/>
                    </a:ext>
                  </a:extLst>
                </a:gridCol>
              </a:tblGrid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322059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event_time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of customer activity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Date-Time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33800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event_type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action (view, cart, purchase)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715647"/>
                  </a:ext>
                </a:extLst>
              </a:tr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product identifier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475655"/>
                  </a:ext>
                </a:extLst>
              </a:tr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category_id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category identifier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398743"/>
                  </a:ext>
                </a:extLst>
              </a:tr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category_code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category name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33605"/>
                  </a:ext>
                </a:extLst>
              </a:tr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brand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brand name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980090"/>
                  </a:ext>
                </a:extLst>
              </a:tr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price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198742"/>
                  </a:ext>
                </a:extLst>
              </a:tr>
              <a:tr h="28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customer identifier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35689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user_session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identifier of customer activity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72280" marR="72280" marT="36140" marB="361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419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87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FE5C9-4878-DD07-B7A7-D958B39B60BF}"/>
              </a:ext>
            </a:extLst>
          </p:cNvPr>
          <p:cNvSpPr txBox="1"/>
          <p:nvPr/>
        </p:nvSpPr>
        <p:spPr>
          <a:xfrm>
            <a:off x="1299410" y="224589"/>
            <a:ext cx="7908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3E597-8ADA-F20F-FFBC-F27454EE637A}"/>
              </a:ext>
            </a:extLst>
          </p:cNvPr>
          <p:cNvSpPr txBox="1"/>
          <p:nvPr/>
        </p:nvSpPr>
        <p:spPr>
          <a:xfrm>
            <a:off x="1299410" y="897197"/>
            <a:ext cx="92562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CO-3 IMPLEMENTATION</a:t>
            </a:r>
          </a:p>
          <a:p>
            <a:r>
              <a:rPr lang="en-IN" dirty="0"/>
              <a:t># E-Commerce Customer </a:t>
            </a:r>
            <a:r>
              <a:rPr lang="en-IN" dirty="0" err="1"/>
              <a:t>Behavior</a:t>
            </a:r>
            <a:r>
              <a:rPr lang="en-IN" dirty="0"/>
              <a:t> Analysis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from </a:t>
            </a:r>
            <a:r>
              <a:rPr lang="en-IN" dirty="0" err="1"/>
              <a:t>scipy.stats</a:t>
            </a:r>
            <a:r>
              <a:rPr lang="en-IN" dirty="0"/>
              <a:t> import </a:t>
            </a:r>
            <a:r>
              <a:rPr lang="en-IN" dirty="0" err="1"/>
              <a:t>bernoulli</a:t>
            </a:r>
            <a:r>
              <a:rPr lang="en-IN" dirty="0"/>
              <a:t>, </a:t>
            </a:r>
            <a:r>
              <a:rPr lang="en-IN" dirty="0" err="1"/>
              <a:t>binom</a:t>
            </a:r>
            <a:endParaRPr lang="en-IN" dirty="0"/>
          </a:p>
          <a:p>
            <a:endParaRPr lang="en-IN" dirty="0"/>
          </a:p>
          <a:p>
            <a:r>
              <a:rPr lang="en-IN" dirty="0"/>
              <a:t># Load Dataset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("ecommerce.csv")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SAMPLE SPACE AND EVENTS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 err="1"/>
              <a:t>total_events</a:t>
            </a:r>
            <a:r>
              <a:rPr lang="en-IN" dirty="0"/>
              <a:t>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 err="1"/>
              <a:t>view_events</a:t>
            </a:r>
            <a:r>
              <a:rPr lang="en-IN" dirty="0"/>
              <a:t>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event_type</a:t>
            </a:r>
            <a:r>
              <a:rPr lang="en-IN" dirty="0"/>
              <a:t>'] == 'view'])</a:t>
            </a:r>
          </a:p>
          <a:p>
            <a:r>
              <a:rPr lang="en-IN" dirty="0" err="1"/>
              <a:t>cart_events</a:t>
            </a:r>
            <a:r>
              <a:rPr lang="en-IN" dirty="0"/>
              <a:t>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event_type</a:t>
            </a:r>
            <a:r>
              <a:rPr lang="en-IN" dirty="0"/>
              <a:t>'] == 'cart'])</a:t>
            </a:r>
          </a:p>
          <a:p>
            <a:r>
              <a:rPr lang="en-IN" dirty="0" err="1"/>
              <a:t>purchase_events</a:t>
            </a:r>
            <a:r>
              <a:rPr lang="en-IN" dirty="0"/>
              <a:t>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event_type</a:t>
            </a:r>
            <a:r>
              <a:rPr lang="en-IN" dirty="0"/>
              <a:t>'] == 'purchase'])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99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D84F2-D3F3-C67D-D1EE-4BE5EC78DD01}"/>
              </a:ext>
            </a:extLst>
          </p:cNvPr>
          <p:cNvSpPr txBox="1"/>
          <p:nvPr/>
        </p:nvSpPr>
        <p:spPr>
          <a:xfrm>
            <a:off x="1171074" y="0"/>
            <a:ext cx="786063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print("Total Events =", </a:t>
            </a:r>
            <a:r>
              <a:rPr lang="en-IN" dirty="0" err="1"/>
              <a:t>total_events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BASIC PROBABILITY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 err="1"/>
              <a:t>P_view</a:t>
            </a:r>
            <a:r>
              <a:rPr lang="en-IN" dirty="0"/>
              <a:t> = </a:t>
            </a:r>
            <a:r>
              <a:rPr lang="en-IN" dirty="0" err="1"/>
              <a:t>view_events</a:t>
            </a:r>
            <a:r>
              <a:rPr lang="en-IN" dirty="0"/>
              <a:t> / </a:t>
            </a:r>
            <a:r>
              <a:rPr lang="en-IN" dirty="0" err="1"/>
              <a:t>total_events</a:t>
            </a:r>
            <a:endParaRPr lang="en-IN" dirty="0"/>
          </a:p>
          <a:p>
            <a:r>
              <a:rPr lang="en-IN" dirty="0" err="1"/>
              <a:t>P_cart</a:t>
            </a:r>
            <a:r>
              <a:rPr lang="en-IN" dirty="0"/>
              <a:t> = </a:t>
            </a:r>
            <a:r>
              <a:rPr lang="en-IN" dirty="0" err="1"/>
              <a:t>cart_events</a:t>
            </a:r>
            <a:r>
              <a:rPr lang="en-IN" dirty="0"/>
              <a:t> / </a:t>
            </a:r>
            <a:r>
              <a:rPr lang="en-IN" dirty="0" err="1"/>
              <a:t>total_events</a:t>
            </a:r>
            <a:endParaRPr lang="en-IN" dirty="0"/>
          </a:p>
          <a:p>
            <a:r>
              <a:rPr lang="en-IN" dirty="0" err="1"/>
              <a:t>P_purchase</a:t>
            </a:r>
            <a:r>
              <a:rPr lang="en-IN" dirty="0"/>
              <a:t> = </a:t>
            </a:r>
            <a:r>
              <a:rPr lang="en-IN" dirty="0" err="1"/>
              <a:t>purchase_events</a:t>
            </a:r>
            <a:r>
              <a:rPr lang="en-IN" dirty="0"/>
              <a:t> / </a:t>
            </a:r>
            <a:r>
              <a:rPr lang="en-IN" dirty="0" err="1"/>
              <a:t>total_events</a:t>
            </a:r>
            <a:endParaRPr lang="en-IN" dirty="0"/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nProbability</a:t>
            </a:r>
            <a:r>
              <a:rPr lang="en-IN" dirty="0"/>
              <a:t> of View =", </a:t>
            </a:r>
            <a:r>
              <a:rPr lang="en-IN" dirty="0" err="1"/>
              <a:t>P_view</a:t>
            </a:r>
            <a:r>
              <a:rPr lang="en-IN" dirty="0"/>
              <a:t>)</a:t>
            </a:r>
          </a:p>
          <a:p>
            <a:r>
              <a:rPr lang="en-IN" dirty="0"/>
              <a:t>print("Probability of Cart =", </a:t>
            </a:r>
            <a:r>
              <a:rPr lang="en-IN" dirty="0" err="1"/>
              <a:t>P_cart</a:t>
            </a:r>
            <a:r>
              <a:rPr lang="en-IN" dirty="0"/>
              <a:t>)</a:t>
            </a:r>
          </a:p>
          <a:p>
            <a:r>
              <a:rPr lang="en-IN" dirty="0"/>
              <a:t>print("Probability of Purchase =", </a:t>
            </a:r>
            <a:r>
              <a:rPr lang="en-IN" dirty="0" err="1"/>
              <a:t>P_purchase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CONDITIONAL PROBABILITY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cart_events</a:t>
            </a:r>
            <a:r>
              <a:rPr lang="en-IN" dirty="0"/>
              <a:t> &gt; 0:</a:t>
            </a:r>
          </a:p>
          <a:p>
            <a:r>
              <a:rPr lang="en-IN" dirty="0"/>
              <a:t>    </a:t>
            </a:r>
            <a:r>
              <a:rPr lang="en-IN" dirty="0" err="1"/>
              <a:t>P_purchase_given_cart</a:t>
            </a:r>
            <a:r>
              <a:rPr lang="en-IN" dirty="0"/>
              <a:t> = </a:t>
            </a:r>
            <a:r>
              <a:rPr lang="en-IN" dirty="0" err="1"/>
              <a:t>purchase_events</a:t>
            </a:r>
            <a:r>
              <a:rPr lang="en-IN" dirty="0"/>
              <a:t> / </a:t>
            </a:r>
            <a:r>
              <a:rPr lang="en-IN" dirty="0" err="1"/>
              <a:t>cart_events</a:t>
            </a:r>
            <a:endParaRPr lang="en-IN" dirty="0"/>
          </a:p>
          <a:p>
            <a:r>
              <a:rPr lang="en-IN" dirty="0"/>
              <a:t>    print("\</a:t>
            </a:r>
            <a:r>
              <a:rPr lang="en-IN" dirty="0" err="1"/>
              <a:t>nP</a:t>
            </a:r>
            <a:r>
              <a:rPr lang="en-IN" dirty="0"/>
              <a:t>(Purchase | Cart) =",</a:t>
            </a:r>
          </a:p>
          <a:p>
            <a:r>
              <a:rPr lang="en-IN" dirty="0"/>
              <a:t>          </a:t>
            </a:r>
            <a:r>
              <a:rPr lang="en-IN" dirty="0" err="1"/>
              <a:t>P_purchase_given_cart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33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B51DAB-906A-5C94-5E56-A04E9F92FB1A}"/>
              </a:ext>
            </a:extLst>
          </p:cNvPr>
          <p:cNvSpPr txBox="1"/>
          <p:nvPr/>
        </p:nvSpPr>
        <p:spPr>
          <a:xfrm>
            <a:off x="1299411" y="0"/>
            <a:ext cx="850231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BAYES THEOREM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P_cart</a:t>
            </a:r>
            <a:r>
              <a:rPr lang="en-IN" dirty="0"/>
              <a:t> &gt; 0:</a:t>
            </a:r>
          </a:p>
          <a:p>
            <a:r>
              <a:rPr lang="en-IN" dirty="0"/>
              <a:t>    </a:t>
            </a:r>
            <a:r>
              <a:rPr lang="en-IN" dirty="0" err="1"/>
              <a:t>bayes_probability</a:t>
            </a:r>
            <a:r>
              <a:rPr lang="en-IN" dirty="0"/>
              <a:t> = (</a:t>
            </a:r>
          </a:p>
          <a:p>
            <a:r>
              <a:rPr lang="en-IN" dirty="0"/>
              <a:t>        </a:t>
            </a:r>
            <a:r>
              <a:rPr lang="en-IN" dirty="0" err="1"/>
              <a:t>P_purchase_given_cart</a:t>
            </a:r>
            <a:r>
              <a:rPr lang="en-IN" dirty="0"/>
              <a:t> * </a:t>
            </a:r>
            <a:r>
              <a:rPr lang="en-IN" dirty="0" err="1"/>
              <a:t>P_cart</a:t>
            </a:r>
            <a:endParaRPr lang="en-IN" dirty="0"/>
          </a:p>
          <a:p>
            <a:r>
              <a:rPr lang="en-IN" dirty="0"/>
              <a:t>    ) / </a:t>
            </a:r>
            <a:r>
              <a:rPr lang="en-IN" dirty="0" err="1"/>
              <a:t>P_purchase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print("\</a:t>
            </a:r>
            <a:r>
              <a:rPr lang="en-IN" dirty="0" err="1"/>
              <a:t>nBayes</a:t>
            </a:r>
            <a:r>
              <a:rPr lang="en-IN" dirty="0"/>
              <a:t> Probability =",</a:t>
            </a:r>
          </a:p>
          <a:p>
            <a:r>
              <a:rPr lang="en-IN" dirty="0"/>
              <a:t>          </a:t>
            </a:r>
            <a:r>
              <a:rPr lang="en-IN" dirty="0" err="1"/>
              <a:t>bayes_probability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DISCRETE RANDOM VARIABLE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 err="1"/>
              <a:t>purchase_counts</a:t>
            </a:r>
            <a:r>
              <a:rPr lang="en-IN" dirty="0"/>
              <a:t> = (</a:t>
            </a:r>
          </a:p>
          <a:p>
            <a:r>
              <a:rPr lang="en-IN" dirty="0"/>
              <a:t>    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event_type</a:t>
            </a:r>
            <a:r>
              <a:rPr lang="en-IN" dirty="0"/>
              <a:t>'] == 'purchase'</a:t>
            </a:r>
          </a:p>
          <a:p>
            <a:r>
              <a:rPr lang="en-IN" dirty="0"/>
              <a:t>).sum()</a:t>
            </a:r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nNumber</a:t>
            </a:r>
            <a:r>
              <a:rPr lang="en-IN" dirty="0"/>
              <a:t> of Purchases =",</a:t>
            </a:r>
          </a:p>
          <a:p>
            <a:r>
              <a:rPr lang="en-IN" dirty="0"/>
              <a:t>      </a:t>
            </a:r>
            <a:r>
              <a:rPr lang="en-IN" dirty="0" err="1"/>
              <a:t>purchase_counts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93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CA8E0B-743A-51E5-E203-94D04EEB8EE9}"/>
              </a:ext>
            </a:extLst>
          </p:cNvPr>
          <p:cNvSpPr txBox="1"/>
          <p:nvPr/>
        </p:nvSpPr>
        <p:spPr>
          <a:xfrm>
            <a:off x="1235242" y="0"/>
            <a:ext cx="848627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CONTINUOUS RANDOM VARIABLE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 err="1"/>
              <a:t>mean_price</a:t>
            </a:r>
            <a:r>
              <a:rPr lang="en-IN" dirty="0"/>
              <a:t> = </a:t>
            </a:r>
            <a:r>
              <a:rPr lang="en-IN" dirty="0" err="1"/>
              <a:t>df</a:t>
            </a:r>
            <a:r>
              <a:rPr lang="en-IN" dirty="0"/>
              <a:t>['price'].mean()</a:t>
            </a:r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nAverage</a:t>
            </a:r>
            <a:r>
              <a:rPr lang="en-IN" dirty="0"/>
              <a:t> Product Price =",</a:t>
            </a:r>
          </a:p>
          <a:p>
            <a:r>
              <a:rPr lang="en-IN" dirty="0"/>
              <a:t>      </a:t>
            </a:r>
            <a:r>
              <a:rPr lang="en-IN" dirty="0" err="1"/>
              <a:t>mean_price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BERNOULLI DISTRIBUTION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 err="1"/>
              <a:t>purchase_binary</a:t>
            </a:r>
            <a:r>
              <a:rPr lang="en-IN" dirty="0"/>
              <a:t> = </a:t>
            </a:r>
            <a:r>
              <a:rPr lang="en-IN" dirty="0" err="1"/>
              <a:t>np.where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event_type</a:t>
            </a:r>
            <a:r>
              <a:rPr lang="en-IN" dirty="0"/>
              <a:t>'] == 'purchase',</a:t>
            </a:r>
          </a:p>
          <a:p>
            <a:r>
              <a:rPr lang="en-IN" dirty="0"/>
              <a:t>    1,</a:t>
            </a:r>
          </a:p>
          <a:p>
            <a:r>
              <a:rPr lang="en-IN" dirty="0"/>
              <a:t>    0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 = </a:t>
            </a:r>
            <a:r>
              <a:rPr lang="en-IN" dirty="0" err="1"/>
              <a:t>purchase_binary.mean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nBernoulli</a:t>
            </a:r>
            <a:r>
              <a:rPr lang="en-IN" dirty="0"/>
              <a:t> Probability =", p)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86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B69BF-E918-C31A-B666-907244680854}"/>
              </a:ext>
            </a:extLst>
          </p:cNvPr>
          <p:cNvSpPr txBox="1"/>
          <p:nvPr/>
        </p:nvSpPr>
        <p:spPr>
          <a:xfrm>
            <a:off x="1331495" y="-390138"/>
            <a:ext cx="858252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BINOMIAL DISTRIBUTION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/>
              <a:t>n = 10</a:t>
            </a:r>
          </a:p>
          <a:p>
            <a:endParaRPr lang="en-IN" dirty="0"/>
          </a:p>
          <a:p>
            <a:r>
              <a:rPr lang="en-IN" dirty="0" err="1"/>
              <a:t>binomial_probability</a:t>
            </a:r>
            <a:r>
              <a:rPr lang="en-IN" dirty="0"/>
              <a:t> = </a:t>
            </a:r>
            <a:r>
              <a:rPr lang="en-IN" dirty="0" err="1"/>
              <a:t>binom.pmf</a:t>
            </a:r>
            <a:r>
              <a:rPr lang="en-IN" dirty="0"/>
              <a:t>(</a:t>
            </a:r>
          </a:p>
          <a:p>
            <a:r>
              <a:rPr lang="en-IN" dirty="0"/>
              <a:t>    3,</a:t>
            </a:r>
          </a:p>
          <a:p>
            <a:r>
              <a:rPr lang="en-IN" dirty="0"/>
              <a:t>    n,</a:t>
            </a:r>
          </a:p>
          <a:p>
            <a:r>
              <a:rPr lang="en-IN" dirty="0"/>
              <a:t>    p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print("Binomial Probability =",</a:t>
            </a:r>
          </a:p>
          <a:p>
            <a:r>
              <a:rPr lang="en-IN" dirty="0"/>
              <a:t>      </a:t>
            </a:r>
            <a:r>
              <a:rPr lang="en-IN" dirty="0" err="1"/>
              <a:t>binomial_probability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EXPECTATION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 err="1"/>
              <a:t>expected_value</a:t>
            </a:r>
            <a:r>
              <a:rPr lang="en-IN" dirty="0"/>
              <a:t> = </a:t>
            </a:r>
            <a:r>
              <a:rPr lang="en-IN" dirty="0" err="1"/>
              <a:t>np.mean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['price'])</a:t>
            </a:r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nExpected</a:t>
            </a:r>
            <a:r>
              <a:rPr lang="en-IN" dirty="0"/>
              <a:t> Value =",</a:t>
            </a:r>
          </a:p>
          <a:p>
            <a:r>
              <a:rPr lang="en-IN" dirty="0"/>
              <a:t>      </a:t>
            </a:r>
            <a:r>
              <a:rPr lang="en-IN" dirty="0" err="1"/>
              <a:t>expected_value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012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BEA06-81F1-EF77-9EA2-B61076DED5CC}"/>
              </a:ext>
            </a:extLst>
          </p:cNvPr>
          <p:cNvSpPr txBox="1"/>
          <p:nvPr/>
        </p:nvSpPr>
        <p:spPr>
          <a:xfrm>
            <a:off x="1155031" y="-352926"/>
            <a:ext cx="7780421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VARIANCE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/>
              <a:t>variance = </a:t>
            </a:r>
            <a:r>
              <a:rPr lang="en-IN" dirty="0" err="1"/>
              <a:t>np.var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['price'])</a:t>
            </a:r>
          </a:p>
          <a:p>
            <a:endParaRPr lang="en-IN" dirty="0"/>
          </a:p>
          <a:p>
            <a:r>
              <a:rPr lang="en-IN" dirty="0"/>
              <a:t>print("Variance =",</a:t>
            </a:r>
          </a:p>
          <a:p>
            <a:r>
              <a:rPr lang="en-IN" dirty="0"/>
              <a:t>      variance)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NORMAL DISTRIBUTION PARAMETERS</a:t>
            </a:r>
          </a:p>
          <a:p>
            <a:r>
              <a:rPr lang="en-IN" dirty="0"/>
              <a:t># ==========================================</a:t>
            </a:r>
          </a:p>
          <a:p>
            <a:endParaRPr lang="en-IN" dirty="0"/>
          </a:p>
          <a:p>
            <a:r>
              <a:rPr lang="en-IN" dirty="0"/>
              <a:t>mean = </a:t>
            </a:r>
            <a:r>
              <a:rPr lang="en-IN" dirty="0" err="1"/>
              <a:t>df</a:t>
            </a:r>
            <a:r>
              <a:rPr lang="en-IN" dirty="0"/>
              <a:t>['price'].mean()</a:t>
            </a:r>
          </a:p>
          <a:p>
            <a:endParaRPr lang="en-IN" dirty="0"/>
          </a:p>
          <a:p>
            <a:r>
              <a:rPr lang="en-IN" dirty="0"/>
              <a:t>std = </a:t>
            </a:r>
            <a:r>
              <a:rPr lang="en-IN" dirty="0" err="1"/>
              <a:t>df</a:t>
            </a:r>
            <a:r>
              <a:rPr lang="en-IN" dirty="0"/>
              <a:t>['price'].std()</a:t>
            </a:r>
          </a:p>
          <a:p>
            <a:endParaRPr lang="en-IN" dirty="0"/>
          </a:p>
          <a:p>
            <a:r>
              <a:rPr lang="en-IN" dirty="0"/>
              <a:t>print("\</a:t>
            </a:r>
            <a:r>
              <a:rPr lang="en-IN" dirty="0" err="1"/>
              <a:t>nNormal</a:t>
            </a:r>
            <a:r>
              <a:rPr lang="en-IN" dirty="0"/>
              <a:t> Distribution")</a:t>
            </a:r>
          </a:p>
          <a:p>
            <a:r>
              <a:rPr lang="en-IN" dirty="0"/>
              <a:t>print("Mean =", mean)</a:t>
            </a:r>
          </a:p>
          <a:p>
            <a:r>
              <a:rPr lang="en-IN" dirty="0"/>
              <a:t>print("Standard Deviation =", std)</a:t>
            </a:r>
          </a:p>
          <a:p>
            <a:endParaRPr lang="en-IN" dirty="0"/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# SUMMARY</a:t>
            </a:r>
          </a:p>
          <a:p>
            <a:r>
              <a:rPr lang="en-IN" dirty="0"/>
              <a:t># ==========================================</a:t>
            </a:r>
          </a:p>
          <a:p>
            <a:r>
              <a:rPr lang="en-IN" dirty="0"/>
              <a:t>print("\</a:t>
            </a:r>
            <a:r>
              <a:rPr lang="en-IN" dirty="0" err="1"/>
              <a:t>nProbability</a:t>
            </a:r>
            <a:r>
              <a:rPr lang="en-IN" dirty="0"/>
              <a:t> Analysis Completed")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8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8A0DE0-E4AB-A060-6DD3-6EDACA716E0A}"/>
                  </a:ext>
                </a:extLst>
              </p:cNvPr>
              <p:cNvSpPr txBox="1"/>
              <p:nvPr/>
            </p:nvSpPr>
            <p:spPr>
              <a:xfrm>
                <a:off x="1549373" y="-111148"/>
                <a:ext cx="7860632" cy="7863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CO-3 Formulas Used</a:t>
                </a: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Probability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 Theorem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Bernoulli Distribution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Binomial Distribution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Value (Expectation)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en-IN" sz="2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8A0DE0-E4AB-A060-6DD3-6EDACA716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373" y="-111148"/>
                <a:ext cx="7860632" cy="7863884"/>
              </a:xfrm>
              <a:prstGeom prst="rect">
                <a:avLst/>
              </a:prstGeom>
              <a:blipFill>
                <a:blip r:embed="rId2"/>
                <a:stretch>
                  <a:fillRect l="-3101" t="-15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605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454517-F14B-1A9E-6665-92C76199FD15}"/>
                  </a:ext>
                </a:extLst>
              </p:cNvPr>
              <p:cNvSpPr txBox="1"/>
              <p:nvPr/>
            </p:nvSpPr>
            <p:spPr>
              <a:xfrm>
                <a:off x="1556084" y="128337"/>
                <a:ext cx="7234990" cy="6349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Deviation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 Distribution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IN" sz="2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𝑒𝑤</m:t>
                          </m:r>
                          <m:r>
                            <m:rPr>
                              <m:nor/>
                            </m:rPr>
                            <a:rPr lang="en-IN" sz="24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𝐶𝑎𝑟𝑡</m:t>
                          </m:r>
                          <m:r>
                            <m:rPr>
                              <m:nor/>
                            </m:rPr>
                            <a:rPr lang="en-IN" sz="24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𝑃𝑢𝑟𝑐h𝑎𝑠𝑒</m:t>
                          </m:r>
                        </m:e>
                      </m:d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𝑃𝑢𝑟𝑐h𝑎𝑠𝑒</m:t>
                          </m:r>
                        </m:e>
                      </m:d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𝐶𝑎𝑟𝑡</m:t>
                          </m:r>
                        </m:e>
                      </m:d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Purchase Given Cart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𝑃𝑢𝑟𝑐h𝑎𝑠𝑒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𝐶𝑎𝑟𝑡</m:t>
                          </m:r>
                        </m:e>
                      </m:d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𝑃𝑢𝑟𝑐h𝑎𝑠𝑒</m:t>
                              </m:r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𝐶𝑎𝑟𝑡</m:t>
                              </m:r>
                            </m:e>
                          </m:d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𝐶𝑎𝑟𝑡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454517-F14B-1A9E-6665-92C76199F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084" y="128337"/>
                <a:ext cx="7234990" cy="6349367"/>
              </a:xfrm>
              <a:prstGeom prst="rect">
                <a:avLst/>
              </a:prstGeom>
              <a:blipFill>
                <a:blip r:embed="rId2"/>
                <a:stretch>
                  <a:fillRect l="-1264" t="-7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952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166F2-AF01-BEC5-3594-2E17F3521BD5}"/>
              </a:ext>
            </a:extLst>
          </p:cNvPr>
          <p:cNvSpPr txBox="1"/>
          <p:nvPr/>
        </p:nvSpPr>
        <p:spPr>
          <a:xfrm>
            <a:off x="1328549" y="46653"/>
            <a:ext cx="86146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900CA-CD54-8CDF-EEEC-E5004CA7BA82}"/>
              </a:ext>
            </a:extLst>
          </p:cNvPr>
          <p:cNvSpPr txBox="1"/>
          <p:nvPr/>
        </p:nvSpPr>
        <p:spPr>
          <a:xfrm>
            <a:off x="1411704" y="769441"/>
            <a:ext cx="1001027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Customer Behaviour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applied CO-3 probability concepts to analyse customer interactions and purchasing behaviour. Concepts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probability, conditional probability, Bayes theorem, random variables, probability distributions, expectation, and variance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understand customer actions and predict purchase patterns. The analysis demonstrated how probability-based techniques can support data-driven decision-making in e-commerce.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 Prediction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Applications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Customer Behaviour Analytics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297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451CA-5A1B-B0A6-9E49-1ACB40019528}"/>
              </a:ext>
            </a:extLst>
          </p:cNvPr>
          <p:cNvSpPr txBox="1"/>
          <p:nvPr/>
        </p:nvSpPr>
        <p:spPr>
          <a:xfrm>
            <a:off x="2358189" y="2390273"/>
            <a:ext cx="8678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56323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986</Words>
  <Application>Microsoft Office PowerPoint</Application>
  <PresentationFormat>Widescreen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mvijayalakshmi2007@outlook.com</dc:creator>
  <cp:lastModifiedBy>potlabathini shashanth</cp:lastModifiedBy>
  <cp:revision>4</cp:revision>
  <dcterms:created xsi:type="dcterms:W3CDTF">2026-06-04T03:27:19Z</dcterms:created>
  <dcterms:modified xsi:type="dcterms:W3CDTF">2026-06-04T10:02:30Z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