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4" r:id="rId4"/>
  </p:sldMasterIdLst>
  <p:notesMasterIdLst>
    <p:notesMasterId r:id="rId18"/>
  </p:notesMasterIdLst>
  <p:handoutMasterIdLst>
    <p:handoutMasterId r:id="rId19"/>
  </p:handoutMasterIdLst>
  <p:sldIdLst>
    <p:sldId id="264" r:id="rId5"/>
    <p:sldId id="265" r:id="rId6"/>
    <p:sldId id="266" r:id="rId7"/>
    <p:sldId id="267" r:id="rId8"/>
    <p:sldId id="270" r:id="rId9"/>
    <p:sldId id="268" r:id="rId10"/>
    <p:sldId id="269" r:id="rId11"/>
    <p:sldId id="271" r:id="rId12"/>
    <p:sldId id="272" r:id="rId13"/>
    <p:sldId id="273" r:id="rId14"/>
    <p:sldId id="274" r:id="rId15"/>
    <p:sldId id="275" r:id="rId16"/>
    <p:sldId id="27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6/4/2026</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6/4/2026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41778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54725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89123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34779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8947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10029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64088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40759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6/4/2026</a:t>
            </a:fld>
            <a:endParaRPr lang="en-US" dirty="0"/>
          </a:p>
        </p:txBody>
      </p:sp>
    </p:spTree>
    <p:extLst>
      <p:ext uri="{BB962C8B-B14F-4D97-AF65-F5344CB8AC3E}">
        <p14:creationId xmlns:p14="http://schemas.microsoft.com/office/powerpoint/2010/main" val="2871693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1435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49938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95915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90962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0674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10604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58430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6/4/2026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2795011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EF08A5-875A-2287-3F16-B129D5F497CA}"/>
              </a:ext>
            </a:extLst>
          </p:cNvPr>
          <p:cNvSpPr txBox="1"/>
          <p:nvPr/>
        </p:nvSpPr>
        <p:spPr>
          <a:xfrm>
            <a:off x="4042611" y="352926"/>
            <a:ext cx="3721768" cy="1446550"/>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25MT1306E</a:t>
            </a:r>
          </a:p>
          <a:p>
            <a:endParaRPr lang="en-IN" sz="4400" dirty="0"/>
          </a:p>
        </p:txBody>
      </p:sp>
      <p:sp>
        <p:nvSpPr>
          <p:cNvPr id="3" name="TextBox 2">
            <a:extLst>
              <a:ext uri="{FF2B5EF4-FFF2-40B4-BE49-F238E27FC236}">
                <a16:creationId xmlns:a16="http://schemas.microsoft.com/office/drawing/2014/main" id="{AAEF362D-6618-2794-DB19-02465633B404}"/>
              </a:ext>
            </a:extLst>
          </p:cNvPr>
          <p:cNvSpPr txBox="1"/>
          <p:nvPr/>
        </p:nvSpPr>
        <p:spPr>
          <a:xfrm>
            <a:off x="962526" y="1363579"/>
            <a:ext cx="1060383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MATHEMATICS FOR DATA SCIENCE AND ANALYTICS (MDSA)</a:t>
            </a:r>
          </a:p>
        </p:txBody>
      </p:sp>
      <p:sp>
        <p:nvSpPr>
          <p:cNvPr id="4" name="TextBox 3">
            <a:extLst>
              <a:ext uri="{FF2B5EF4-FFF2-40B4-BE49-F238E27FC236}">
                <a16:creationId xmlns:a16="http://schemas.microsoft.com/office/drawing/2014/main" id="{118EC6E2-F336-0719-0DF5-074E215C1518}"/>
              </a:ext>
            </a:extLst>
          </p:cNvPr>
          <p:cNvSpPr txBox="1"/>
          <p:nvPr/>
        </p:nvSpPr>
        <p:spPr>
          <a:xfrm>
            <a:off x="802106" y="2279796"/>
            <a:ext cx="3240505" cy="954107"/>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PROJECT TITLE: </a:t>
            </a:r>
          </a:p>
          <a:p>
            <a:endParaRPr lang="en-IN" sz="2800" dirty="0"/>
          </a:p>
        </p:txBody>
      </p:sp>
      <p:sp>
        <p:nvSpPr>
          <p:cNvPr id="5" name="TextBox 4">
            <a:extLst>
              <a:ext uri="{FF2B5EF4-FFF2-40B4-BE49-F238E27FC236}">
                <a16:creationId xmlns:a16="http://schemas.microsoft.com/office/drawing/2014/main" id="{1513E318-1E77-E450-8CD9-7223ADF79502}"/>
              </a:ext>
            </a:extLst>
          </p:cNvPr>
          <p:cNvSpPr txBox="1"/>
          <p:nvPr/>
        </p:nvSpPr>
        <p:spPr>
          <a:xfrm>
            <a:off x="3553326" y="2222740"/>
            <a:ext cx="8422105" cy="2308324"/>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E-COMMERCE CUSTOMER BEHAVIOR ANALYSIS USING DATA SCIENCE TECHNIQUES</a:t>
            </a:r>
          </a:p>
          <a:p>
            <a:endParaRPr lang="en-IN" sz="3600" dirty="0"/>
          </a:p>
        </p:txBody>
      </p:sp>
      <p:sp>
        <p:nvSpPr>
          <p:cNvPr id="6" name="TextBox 5">
            <a:extLst>
              <a:ext uri="{FF2B5EF4-FFF2-40B4-BE49-F238E27FC236}">
                <a16:creationId xmlns:a16="http://schemas.microsoft.com/office/drawing/2014/main" id="{F38D77D2-31FA-7346-21F8-9EEB0802411C}"/>
              </a:ext>
            </a:extLst>
          </p:cNvPr>
          <p:cNvSpPr txBox="1"/>
          <p:nvPr/>
        </p:nvSpPr>
        <p:spPr>
          <a:xfrm>
            <a:off x="1183636" y="4136365"/>
            <a:ext cx="7186862" cy="230832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JANGIRALA RAKSHITHA- 2520090212</a:t>
            </a:r>
          </a:p>
          <a:p>
            <a:r>
              <a:rPr lang="en-IN" sz="2400" dirty="0">
                <a:latin typeface="Times New Roman" panose="02020603050405020304" pitchFamily="18" charset="0"/>
                <a:cs typeface="Times New Roman" panose="02020603050405020304" pitchFamily="18" charset="0"/>
              </a:rPr>
              <a:t>PENMATSA GOWTHAM VARMA-2520090202</a:t>
            </a:r>
          </a:p>
          <a:p>
            <a:r>
              <a:rPr lang="en-IN" sz="2400" dirty="0">
                <a:latin typeface="Times New Roman" panose="02020603050405020304" pitchFamily="18" charset="0"/>
                <a:cs typeface="Times New Roman" panose="02020603050405020304" pitchFamily="18" charset="0"/>
              </a:rPr>
              <a:t>POTLABTHINI SHASHANTH-2520090211 </a:t>
            </a:r>
          </a:p>
          <a:p>
            <a:r>
              <a:rPr lang="en-IN" sz="2400" dirty="0">
                <a:latin typeface="Times New Roman" panose="02020603050405020304" pitchFamily="18" charset="0"/>
                <a:cs typeface="Times New Roman" panose="02020603050405020304" pitchFamily="18" charset="0"/>
              </a:rPr>
              <a:t>SECTION - 03</a:t>
            </a:r>
          </a:p>
          <a:p>
            <a:r>
              <a:rPr lang="en-IN" sz="2400" dirty="0">
                <a:latin typeface="Times New Roman" panose="02020603050405020304" pitchFamily="18" charset="0"/>
                <a:cs typeface="Times New Roman" panose="02020603050405020304" pitchFamily="18" charset="0"/>
              </a:rPr>
              <a:t>LECTURER : </a:t>
            </a:r>
            <a:r>
              <a:rPr lang="en-IN" sz="2400" dirty="0" err="1">
                <a:latin typeface="Times New Roman" panose="02020603050405020304" pitchFamily="18" charset="0"/>
                <a:cs typeface="Times New Roman" panose="02020603050405020304" pitchFamily="18" charset="0"/>
              </a:rPr>
              <a:t>Dr.B.TULASI</a:t>
            </a:r>
            <a:r>
              <a:rPr lang="en-IN" sz="2400" dirty="0">
                <a:latin typeface="Times New Roman" panose="02020603050405020304" pitchFamily="18" charset="0"/>
                <a:cs typeface="Times New Roman" panose="02020603050405020304" pitchFamily="18" charset="0"/>
              </a:rPr>
              <a:t> LAKSHMI</a:t>
            </a:r>
            <a:endParaRPr lang="en-IN" sz="2400" dirty="0"/>
          </a:p>
          <a:p>
            <a:endParaRPr lang="en-IN" sz="2400" dirty="0"/>
          </a:p>
        </p:txBody>
      </p:sp>
    </p:spTree>
    <p:extLst>
      <p:ext uri="{BB962C8B-B14F-4D97-AF65-F5344CB8AC3E}">
        <p14:creationId xmlns:p14="http://schemas.microsoft.com/office/powerpoint/2010/main" val="226789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EBFD6F-FBC6-8307-385C-5F7464B5D4CF}"/>
              </a:ext>
            </a:extLst>
          </p:cNvPr>
          <p:cNvSpPr txBox="1"/>
          <p:nvPr/>
        </p:nvSpPr>
        <p:spPr>
          <a:xfrm>
            <a:off x="1299411" y="0"/>
            <a:ext cx="7106652" cy="1754326"/>
          </a:xfrm>
          <a:prstGeom prst="rect">
            <a:avLst/>
          </a:prstGeom>
          <a:noFill/>
        </p:spPr>
        <p:txBody>
          <a:bodyPr wrap="square" rtlCol="0">
            <a:spAutoFit/>
          </a:bodyPr>
          <a:lstStyle/>
          <a:p>
            <a:r>
              <a:rPr lang="en-IN" sz="5400" dirty="0">
                <a:latin typeface="Times New Roman" panose="02020603050405020304" pitchFamily="18" charset="0"/>
                <a:cs typeface="Times New Roman" panose="02020603050405020304" pitchFamily="18" charset="0"/>
              </a:rPr>
              <a:t>Table Of Contents </a:t>
            </a:r>
          </a:p>
          <a:p>
            <a:endParaRPr lang="en-IN" sz="5400" dirty="0"/>
          </a:p>
        </p:txBody>
      </p:sp>
      <p:sp>
        <p:nvSpPr>
          <p:cNvPr id="3" name="TextBox 2">
            <a:extLst>
              <a:ext uri="{FF2B5EF4-FFF2-40B4-BE49-F238E27FC236}">
                <a16:creationId xmlns:a16="http://schemas.microsoft.com/office/drawing/2014/main" id="{4BDFCFA3-76E9-8E2E-DADB-F1F8D946438B}"/>
              </a:ext>
            </a:extLst>
          </p:cNvPr>
          <p:cNvSpPr txBox="1"/>
          <p:nvPr/>
        </p:nvSpPr>
        <p:spPr>
          <a:xfrm>
            <a:off x="2695074" y="1219200"/>
            <a:ext cx="8053136" cy="6001643"/>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Introduction</a:t>
            </a:r>
          </a:p>
          <a:p>
            <a:pPr marL="342900" indent="-342900">
              <a:buAutoNum type="arabicPlain"/>
            </a:pPr>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CO Mapping For The Project</a:t>
            </a: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Dataset Description &amp; Python Implementation</a:t>
            </a: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Conclusion &amp; Future Scope</a:t>
            </a:r>
          </a:p>
          <a:p>
            <a:r>
              <a:rPr lang="en-IN" sz="3200" dirty="0">
                <a:latin typeface="Times New Roman" panose="02020603050405020304" pitchFamily="18" charset="0"/>
                <a:cs typeface="Times New Roman" panose="02020603050405020304" pitchFamily="18" charset="0"/>
              </a:rPr>
              <a:t> </a:t>
            </a:r>
          </a:p>
          <a:p>
            <a:endParaRPr lang="en-IN" sz="3200" dirty="0"/>
          </a:p>
        </p:txBody>
      </p:sp>
      <p:sp>
        <p:nvSpPr>
          <p:cNvPr id="4" name="TextBox 3">
            <a:extLst>
              <a:ext uri="{FF2B5EF4-FFF2-40B4-BE49-F238E27FC236}">
                <a16:creationId xmlns:a16="http://schemas.microsoft.com/office/drawing/2014/main" id="{A2E93FE7-A9E5-09BC-B023-FE8CBC5D5729}"/>
              </a:ext>
            </a:extLst>
          </p:cNvPr>
          <p:cNvSpPr txBox="1"/>
          <p:nvPr/>
        </p:nvSpPr>
        <p:spPr>
          <a:xfrm>
            <a:off x="1443790" y="1058779"/>
            <a:ext cx="850231" cy="6001643"/>
          </a:xfrm>
          <a:prstGeom prst="rect">
            <a:avLst/>
          </a:prstGeom>
          <a:noFill/>
        </p:spPr>
        <p:txBody>
          <a:bodyPr wrap="square" rtlCol="0">
            <a:spAutoFit/>
          </a:bodyPr>
          <a:lstStyle/>
          <a:p>
            <a:r>
              <a:rPr lang="en-IN" sz="4800" dirty="0">
                <a:latin typeface="Times New Roman" panose="02020603050405020304" pitchFamily="18" charset="0"/>
                <a:cs typeface="Times New Roman" panose="02020603050405020304" pitchFamily="18" charset="0"/>
              </a:rPr>
              <a:t>01</a:t>
            </a:r>
          </a:p>
          <a:p>
            <a:endParaRPr lang="en-IN" sz="4800" dirty="0">
              <a:latin typeface="Times New Roman" panose="02020603050405020304" pitchFamily="18" charset="0"/>
              <a:cs typeface="Times New Roman" panose="02020603050405020304" pitchFamily="18" charset="0"/>
            </a:endParaRPr>
          </a:p>
          <a:p>
            <a:r>
              <a:rPr lang="en-IN" sz="4800" dirty="0">
                <a:latin typeface="Times New Roman" panose="02020603050405020304" pitchFamily="18" charset="0"/>
                <a:cs typeface="Times New Roman" panose="02020603050405020304" pitchFamily="18" charset="0"/>
              </a:rPr>
              <a:t>02</a:t>
            </a:r>
          </a:p>
          <a:p>
            <a:r>
              <a:rPr lang="en-IN" sz="4800" dirty="0">
                <a:latin typeface="Times New Roman" panose="02020603050405020304" pitchFamily="18" charset="0"/>
                <a:cs typeface="Times New Roman" panose="02020603050405020304" pitchFamily="18" charset="0"/>
              </a:rPr>
              <a:t>    </a:t>
            </a:r>
          </a:p>
          <a:p>
            <a:r>
              <a:rPr lang="en-IN" sz="4800" dirty="0">
                <a:latin typeface="Times New Roman" panose="02020603050405020304" pitchFamily="18" charset="0"/>
                <a:cs typeface="Times New Roman" panose="02020603050405020304" pitchFamily="18" charset="0"/>
              </a:rPr>
              <a:t>03</a:t>
            </a:r>
          </a:p>
          <a:p>
            <a:endParaRPr lang="en-IN" sz="4800" dirty="0">
              <a:latin typeface="Times New Roman" panose="02020603050405020304" pitchFamily="18" charset="0"/>
              <a:cs typeface="Times New Roman" panose="02020603050405020304" pitchFamily="18" charset="0"/>
            </a:endParaRPr>
          </a:p>
          <a:p>
            <a:r>
              <a:rPr lang="en-IN" sz="4800" dirty="0">
                <a:latin typeface="Times New Roman" panose="02020603050405020304" pitchFamily="18" charset="0"/>
                <a:cs typeface="Times New Roman" panose="02020603050405020304" pitchFamily="18" charset="0"/>
              </a:rPr>
              <a:t>04</a:t>
            </a:r>
          </a:p>
          <a:p>
            <a:endParaRPr lang="en-IN" sz="4800" dirty="0"/>
          </a:p>
        </p:txBody>
      </p:sp>
    </p:spTree>
    <p:extLst>
      <p:ext uri="{BB962C8B-B14F-4D97-AF65-F5344CB8AC3E}">
        <p14:creationId xmlns:p14="http://schemas.microsoft.com/office/powerpoint/2010/main" val="2800649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8EFF60-1B0E-9429-EC0B-2443865B0C77}"/>
              </a:ext>
            </a:extLst>
          </p:cNvPr>
          <p:cNvSpPr txBox="1"/>
          <p:nvPr/>
        </p:nvSpPr>
        <p:spPr>
          <a:xfrm>
            <a:off x="1379620" y="256674"/>
            <a:ext cx="5678905"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1BC65253-FFB6-00D5-1C3C-1D889DEEAA7E}"/>
              </a:ext>
            </a:extLst>
          </p:cNvPr>
          <p:cNvSpPr txBox="1"/>
          <p:nvPr/>
        </p:nvSpPr>
        <p:spPr>
          <a:xfrm>
            <a:off x="1379620" y="1026114"/>
            <a:ext cx="9432760" cy="4154984"/>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E-commerce platforms generate large amounts of customer interaction data, including product views, cart additions, and purchases. Analysing this data helps businesses understand customer preferences and purchasing behaviour.</a:t>
            </a:r>
          </a:p>
          <a:p>
            <a:r>
              <a:rPr lang="en-IN" sz="2400" dirty="0">
                <a:latin typeface="Times New Roman" panose="02020603050405020304" pitchFamily="18" charset="0"/>
                <a:cs typeface="Times New Roman" panose="02020603050405020304" pitchFamily="18" charset="0"/>
              </a:rPr>
              <a:t>This project uses the E-Commerce Behaviour Dataset to apply statistical analysis techniques. The focus is on understanding the distribution of product prices and customer activities using descriptive statistics such as mean, median, mode, variance, standard deviation, quartiles, and percentiles.</a:t>
            </a:r>
          </a:p>
          <a:p>
            <a:r>
              <a:rPr lang="en-IN" sz="2400" dirty="0">
                <a:latin typeface="Times New Roman" panose="02020603050405020304" pitchFamily="18" charset="0"/>
                <a:cs typeface="Times New Roman" panose="02020603050405020304" pitchFamily="18" charset="0"/>
              </a:rPr>
              <a:t>The project demonstrates how statistical measures can summarize large datasets and provide meaningful insights for decision-making.</a:t>
            </a:r>
          </a:p>
        </p:txBody>
      </p:sp>
    </p:spTree>
    <p:extLst>
      <p:ext uri="{BB962C8B-B14F-4D97-AF65-F5344CB8AC3E}">
        <p14:creationId xmlns:p14="http://schemas.microsoft.com/office/powerpoint/2010/main" val="2903000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75EA4A-ECC4-A65A-B59F-49D342C9E8C7}"/>
              </a:ext>
            </a:extLst>
          </p:cNvPr>
          <p:cNvSpPr txBox="1"/>
          <p:nvPr/>
        </p:nvSpPr>
        <p:spPr>
          <a:xfrm>
            <a:off x="1235242" y="208837"/>
            <a:ext cx="5342021"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CO2 TOPICS USED</a:t>
            </a:r>
          </a:p>
        </p:txBody>
      </p:sp>
      <p:sp>
        <p:nvSpPr>
          <p:cNvPr id="3" name="TextBox 2">
            <a:extLst>
              <a:ext uri="{FF2B5EF4-FFF2-40B4-BE49-F238E27FC236}">
                <a16:creationId xmlns:a16="http://schemas.microsoft.com/office/drawing/2014/main" id="{D0488F85-7F16-9D1B-E57C-BBA79439AC1B}"/>
              </a:ext>
            </a:extLst>
          </p:cNvPr>
          <p:cNvSpPr txBox="1"/>
          <p:nvPr/>
        </p:nvSpPr>
        <p:spPr>
          <a:xfrm>
            <a:off x="1235242" y="945903"/>
            <a:ext cx="9545053" cy="4524315"/>
          </a:xfrm>
          <a:prstGeom prst="rect">
            <a:avLst/>
          </a:prstGeom>
          <a:noFill/>
        </p:spPr>
        <p:txBody>
          <a:bodyPr wrap="square" rtlCol="0">
            <a:spAutoFit/>
          </a:bodyPr>
          <a:lstStyle/>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Types of Data</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Measurement Scales</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Mean</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Median</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Mode</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Range</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Variance</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Standard Deviation </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Quartiles (Q1, Q2, Q3)</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Interquartile Range (IQR) </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Percentiles</a:t>
            </a:r>
          </a:p>
          <a:p>
            <a:pPr marL="285750" indent="-28575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Descriptive Statistical Analysis</a:t>
            </a:r>
          </a:p>
        </p:txBody>
      </p:sp>
    </p:spTree>
    <p:extLst>
      <p:ext uri="{BB962C8B-B14F-4D97-AF65-F5344CB8AC3E}">
        <p14:creationId xmlns:p14="http://schemas.microsoft.com/office/powerpoint/2010/main" val="1846447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5D56DE6-608E-CE48-684E-245E91AB03E9}"/>
              </a:ext>
            </a:extLst>
          </p:cNvPr>
          <p:cNvGraphicFramePr>
            <a:graphicFrameLocks noGrp="1"/>
          </p:cNvGraphicFramePr>
          <p:nvPr>
            <p:extLst>
              <p:ext uri="{D42A27DB-BD31-4B8C-83A1-F6EECF244321}">
                <p14:modId xmlns:p14="http://schemas.microsoft.com/office/powerpoint/2010/main" val="4235184338"/>
              </p:ext>
            </p:extLst>
          </p:nvPr>
        </p:nvGraphicFramePr>
        <p:xfrm>
          <a:off x="1475875" y="916209"/>
          <a:ext cx="10443410" cy="5578540"/>
        </p:xfrm>
        <a:graphic>
          <a:graphicData uri="http://schemas.openxmlformats.org/drawingml/2006/table">
            <a:tbl>
              <a:tblPr/>
              <a:tblGrid>
                <a:gridCol w="3469344">
                  <a:extLst>
                    <a:ext uri="{9D8B030D-6E8A-4147-A177-3AD203B41FA5}">
                      <a16:colId xmlns:a16="http://schemas.microsoft.com/office/drawing/2014/main" val="4203681779"/>
                    </a:ext>
                  </a:extLst>
                </a:gridCol>
                <a:gridCol w="3469344">
                  <a:extLst>
                    <a:ext uri="{9D8B030D-6E8A-4147-A177-3AD203B41FA5}">
                      <a16:colId xmlns:a16="http://schemas.microsoft.com/office/drawing/2014/main" val="1933182789"/>
                    </a:ext>
                  </a:extLst>
                </a:gridCol>
                <a:gridCol w="3504722">
                  <a:extLst>
                    <a:ext uri="{9D8B030D-6E8A-4147-A177-3AD203B41FA5}">
                      <a16:colId xmlns:a16="http://schemas.microsoft.com/office/drawing/2014/main" val="2724791296"/>
                    </a:ext>
                  </a:extLst>
                </a:gridCol>
              </a:tblGrid>
              <a:tr h="329462">
                <a:tc>
                  <a:txBody>
                    <a:bodyPr/>
                    <a:lstStyle/>
                    <a:p>
                      <a:pPr>
                        <a:buNone/>
                      </a:pPr>
                      <a:r>
                        <a:rPr lang="en-IN" sz="2400">
                          <a:latin typeface="Times New Roman" panose="02020603050405020304" pitchFamily="18" charset="0"/>
                          <a:cs typeface="Times New Roman" panose="02020603050405020304" pitchFamily="18" charset="0"/>
                        </a:rPr>
                        <a:t>Attribute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Description</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Data Type</a:t>
                      </a:r>
                    </a:p>
                  </a:txBody>
                  <a:tcPr marL="82365" marR="82365" marT="41183" marB="41183" anchor="ctr">
                    <a:lnL>
                      <a:noFill/>
                    </a:lnL>
                    <a:lnR>
                      <a:noFill/>
                    </a:lnR>
                    <a:lnT>
                      <a:noFill/>
                    </a:lnT>
                    <a:lnB>
                      <a:noFill/>
                    </a:lnB>
                    <a:noFill/>
                  </a:tcPr>
                </a:tc>
                <a:extLst>
                  <a:ext uri="{0D108BD9-81ED-4DB2-BD59-A6C34878D82A}">
                    <a16:rowId xmlns:a16="http://schemas.microsoft.com/office/drawing/2014/main" val="520765116"/>
                  </a:ext>
                </a:extLst>
              </a:tr>
              <a:tr h="329462">
                <a:tc>
                  <a:txBody>
                    <a:bodyPr/>
                    <a:lstStyle/>
                    <a:p>
                      <a:pPr>
                        <a:buNone/>
                      </a:pPr>
                      <a:r>
                        <a:rPr lang="en-IN" sz="2400">
                          <a:latin typeface="Times New Roman" panose="02020603050405020304" pitchFamily="18" charset="0"/>
                          <a:cs typeface="Times New Roman" panose="02020603050405020304" pitchFamily="18" charset="0"/>
                        </a:rPr>
                        <a:t>event_time</a:t>
                      </a:r>
                    </a:p>
                  </a:txBody>
                  <a:tcPr marL="82365" marR="82365" marT="41183" marB="41183"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Timestamp of customer activity</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Date-Time</a:t>
                      </a:r>
                    </a:p>
                  </a:txBody>
                  <a:tcPr marL="82365" marR="82365" marT="41183" marB="41183" anchor="ctr">
                    <a:lnL>
                      <a:noFill/>
                    </a:lnL>
                    <a:lnR>
                      <a:noFill/>
                    </a:lnR>
                    <a:lnT>
                      <a:noFill/>
                    </a:lnT>
                    <a:lnB>
                      <a:noFill/>
                    </a:lnB>
                    <a:noFill/>
                  </a:tcPr>
                </a:tc>
                <a:extLst>
                  <a:ext uri="{0D108BD9-81ED-4DB2-BD59-A6C34878D82A}">
                    <a16:rowId xmlns:a16="http://schemas.microsoft.com/office/drawing/2014/main" val="3715192006"/>
                  </a:ext>
                </a:extLst>
              </a:tr>
              <a:tr h="576558">
                <a:tc>
                  <a:txBody>
                    <a:bodyPr/>
                    <a:lstStyle/>
                    <a:p>
                      <a:pPr>
                        <a:buNone/>
                      </a:pPr>
                      <a:r>
                        <a:rPr lang="en-IN" sz="2400">
                          <a:latin typeface="Times New Roman" panose="02020603050405020304" pitchFamily="18" charset="0"/>
                          <a:cs typeface="Times New Roman" panose="02020603050405020304" pitchFamily="18" charset="0"/>
                        </a:rPr>
                        <a:t>event_type</a:t>
                      </a:r>
                    </a:p>
                  </a:txBody>
                  <a:tcPr marL="82365" marR="82365" marT="41183" marB="41183"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Type of event (view, cart, purchase)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Categorical</a:t>
                      </a:r>
                    </a:p>
                  </a:txBody>
                  <a:tcPr marL="82365" marR="82365" marT="41183" marB="41183" anchor="ctr">
                    <a:lnL>
                      <a:noFill/>
                    </a:lnL>
                    <a:lnR>
                      <a:noFill/>
                    </a:lnR>
                    <a:lnT>
                      <a:noFill/>
                    </a:lnT>
                    <a:lnB>
                      <a:noFill/>
                    </a:lnB>
                    <a:noFill/>
                  </a:tcPr>
                </a:tc>
                <a:extLst>
                  <a:ext uri="{0D108BD9-81ED-4DB2-BD59-A6C34878D82A}">
                    <a16:rowId xmlns:a16="http://schemas.microsoft.com/office/drawing/2014/main" val="313588499"/>
                  </a:ext>
                </a:extLst>
              </a:tr>
              <a:tr h="329462">
                <a:tc>
                  <a:txBody>
                    <a:bodyPr/>
                    <a:lstStyle/>
                    <a:p>
                      <a:pPr>
                        <a:buNone/>
                      </a:pPr>
                      <a:r>
                        <a:rPr lang="en-IN" sz="2400">
                          <a:latin typeface="Times New Roman" panose="02020603050405020304" pitchFamily="18" charset="0"/>
                          <a:cs typeface="Times New Roman" panose="02020603050405020304" pitchFamily="18" charset="0"/>
                        </a:rPr>
                        <a:t>product_id</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Unique product identifier</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Numerical</a:t>
                      </a:r>
                    </a:p>
                  </a:txBody>
                  <a:tcPr marL="82365" marR="82365" marT="41183" marB="41183" anchor="ctr">
                    <a:lnL>
                      <a:noFill/>
                    </a:lnL>
                    <a:lnR>
                      <a:noFill/>
                    </a:lnR>
                    <a:lnT>
                      <a:noFill/>
                    </a:lnT>
                    <a:lnB>
                      <a:noFill/>
                    </a:lnB>
                    <a:noFill/>
                  </a:tcPr>
                </a:tc>
                <a:extLst>
                  <a:ext uri="{0D108BD9-81ED-4DB2-BD59-A6C34878D82A}">
                    <a16:rowId xmlns:a16="http://schemas.microsoft.com/office/drawing/2014/main" val="2015971502"/>
                  </a:ext>
                </a:extLst>
              </a:tr>
              <a:tr h="329462">
                <a:tc>
                  <a:txBody>
                    <a:bodyPr/>
                    <a:lstStyle/>
                    <a:p>
                      <a:pPr>
                        <a:buNone/>
                      </a:pPr>
                      <a:r>
                        <a:rPr lang="en-IN" sz="2400">
                          <a:latin typeface="Times New Roman" panose="02020603050405020304" pitchFamily="18" charset="0"/>
                          <a:cs typeface="Times New Roman" panose="02020603050405020304" pitchFamily="18" charset="0"/>
                        </a:rPr>
                        <a:t>category_id</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Unique category identifier</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Numerical</a:t>
                      </a:r>
                    </a:p>
                  </a:txBody>
                  <a:tcPr marL="82365" marR="82365" marT="41183" marB="41183" anchor="ctr">
                    <a:lnL>
                      <a:noFill/>
                    </a:lnL>
                    <a:lnR>
                      <a:noFill/>
                    </a:lnR>
                    <a:lnT>
                      <a:noFill/>
                    </a:lnT>
                    <a:lnB>
                      <a:noFill/>
                    </a:lnB>
                    <a:noFill/>
                  </a:tcPr>
                </a:tc>
                <a:extLst>
                  <a:ext uri="{0D108BD9-81ED-4DB2-BD59-A6C34878D82A}">
                    <a16:rowId xmlns:a16="http://schemas.microsoft.com/office/drawing/2014/main" val="1113162245"/>
                  </a:ext>
                </a:extLst>
              </a:tr>
              <a:tr h="329462">
                <a:tc>
                  <a:txBody>
                    <a:bodyPr/>
                    <a:lstStyle/>
                    <a:p>
                      <a:pPr>
                        <a:buNone/>
                      </a:pPr>
                      <a:r>
                        <a:rPr lang="en-IN" sz="2400">
                          <a:latin typeface="Times New Roman" panose="02020603050405020304" pitchFamily="18" charset="0"/>
                          <a:cs typeface="Times New Roman" panose="02020603050405020304" pitchFamily="18" charset="0"/>
                        </a:rPr>
                        <a:t>category_code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Product category name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Categorical</a:t>
                      </a:r>
                    </a:p>
                  </a:txBody>
                  <a:tcPr marL="82365" marR="82365" marT="41183" marB="41183" anchor="ctr">
                    <a:lnL>
                      <a:noFill/>
                    </a:lnL>
                    <a:lnR>
                      <a:noFill/>
                    </a:lnR>
                    <a:lnT>
                      <a:noFill/>
                    </a:lnT>
                    <a:lnB>
                      <a:noFill/>
                    </a:lnB>
                    <a:noFill/>
                  </a:tcPr>
                </a:tc>
                <a:extLst>
                  <a:ext uri="{0D108BD9-81ED-4DB2-BD59-A6C34878D82A}">
                    <a16:rowId xmlns:a16="http://schemas.microsoft.com/office/drawing/2014/main" val="3792237543"/>
                  </a:ext>
                </a:extLst>
              </a:tr>
              <a:tr h="329462">
                <a:tc>
                  <a:txBody>
                    <a:bodyPr/>
                    <a:lstStyle/>
                    <a:p>
                      <a:pPr>
                        <a:buNone/>
                      </a:pPr>
                      <a:r>
                        <a:rPr lang="en-IN" sz="2400">
                          <a:latin typeface="Times New Roman" panose="02020603050405020304" pitchFamily="18" charset="0"/>
                          <a:cs typeface="Times New Roman" panose="02020603050405020304" pitchFamily="18" charset="0"/>
                        </a:rPr>
                        <a:t>brand</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Product brand name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Categorical</a:t>
                      </a:r>
                    </a:p>
                  </a:txBody>
                  <a:tcPr marL="82365" marR="82365" marT="41183" marB="41183" anchor="ctr">
                    <a:lnL>
                      <a:noFill/>
                    </a:lnL>
                    <a:lnR>
                      <a:noFill/>
                    </a:lnR>
                    <a:lnT>
                      <a:noFill/>
                    </a:lnT>
                    <a:lnB>
                      <a:noFill/>
                    </a:lnB>
                    <a:noFill/>
                  </a:tcPr>
                </a:tc>
                <a:extLst>
                  <a:ext uri="{0D108BD9-81ED-4DB2-BD59-A6C34878D82A}">
                    <a16:rowId xmlns:a16="http://schemas.microsoft.com/office/drawing/2014/main" val="1220875773"/>
                  </a:ext>
                </a:extLst>
              </a:tr>
              <a:tr h="329462">
                <a:tc>
                  <a:txBody>
                    <a:bodyPr/>
                    <a:lstStyle/>
                    <a:p>
                      <a:pPr>
                        <a:buNone/>
                      </a:pPr>
                      <a:r>
                        <a:rPr lang="en-IN" sz="2400">
                          <a:latin typeface="Times New Roman" panose="02020603050405020304" pitchFamily="18" charset="0"/>
                          <a:cs typeface="Times New Roman" panose="02020603050405020304" pitchFamily="18" charset="0"/>
                        </a:rPr>
                        <a:t>price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Product price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Numerical</a:t>
                      </a:r>
                    </a:p>
                  </a:txBody>
                  <a:tcPr marL="82365" marR="82365" marT="41183" marB="41183" anchor="ctr">
                    <a:lnL>
                      <a:noFill/>
                    </a:lnL>
                    <a:lnR>
                      <a:noFill/>
                    </a:lnR>
                    <a:lnT>
                      <a:noFill/>
                    </a:lnT>
                    <a:lnB>
                      <a:noFill/>
                    </a:lnB>
                    <a:noFill/>
                  </a:tcPr>
                </a:tc>
                <a:extLst>
                  <a:ext uri="{0D108BD9-81ED-4DB2-BD59-A6C34878D82A}">
                    <a16:rowId xmlns:a16="http://schemas.microsoft.com/office/drawing/2014/main" val="4214221934"/>
                  </a:ext>
                </a:extLst>
              </a:tr>
              <a:tr h="329462">
                <a:tc>
                  <a:txBody>
                    <a:bodyPr/>
                    <a:lstStyle/>
                    <a:p>
                      <a:pPr>
                        <a:buNone/>
                      </a:pPr>
                      <a:r>
                        <a:rPr lang="en-IN" sz="2400">
                          <a:latin typeface="Times New Roman" panose="02020603050405020304" pitchFamily="18" charset="0"/>
                          <a:cs typeface="Times New Roman" panose="02020603050405020304" pitchFamily="18" charset="0"/>
                        </a:rPr>
                        <a:t>user_id</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Unique customer identifier</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Numerical</a:t>
                      </a:r>
                    </a:p>
                  </a:txBody>
                  <a:tcPr marL="82365" marR="82365" marT="41183" marB="41183" anchor="ctr">
                    <a:lnL>
                      <a:noFill/>
                    </a:lnL>
                    <a:lnR>
                      <a:noFill/>
                    </a:lnR>
                    <a:lnT>
                      <a:noFill/>
                    </a:lnT>
                    <a:lnB>
                      <a:noFill/>
                    </a:lnB>
                    <a:noFill/>
                  </a:tcPr>
                </a:tc>
                <a:extLst>
                  <a:ext uri="{0D108BD9-81ED-4DB2-BD59-A6C34878D82A}">
                    <a16:rowId xmlns:a16="http://schemas.microsoft.com/office/drawing/2014/main" val="324699080"/>
                  </a:ext>
                </a:extLst>
              </a:tr>
              <a:tr h="329462">
                <a:tc>
                  <a:txBody>
                    <a:bodyPr/>
                    <a:lstStyle/>
                    <a:p>
                      <a:pPr>
                        <a:buNone/>
                      </a:pPr>
                      <a:r>
                        <a:rPr lang="en-IN" sz="2400">
                          <a:latin typeface="Times New Roman" panose="02020603050405020304" pitchFamily="18" charset="0"/>
                          <a:cs typeface="Times New Roman" panose="02020603050405020304" pitchFamily="18" charset="0"/>
                        </a:rPr>
                        <a:t>user_session</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Customer session identifier</a:t>
                      </a:r>
                    </a:p>
                  </a:txBody>
                  <a:tcPr marL="82365" marR="82365" marT="41183" marB="41183"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Categorical</a:t>
                      </a:r>
                    </a:p>
                  </a:txBody>
                  <a:tcPr marL="82365" marR="82365" marT="41183" marB="41183" anchor="ctr">
                    <a:lnL>
                      <a:noFill/>
                    </a:lnL>
                    <a:lnR>
                      <a:noFill/>
                    </a:lnR>
                    <a:lnT>
                      <a:noFill/>
                    </a:lnT>
                    <a:lnB>
                      <a:noFill/>
                    </a:lnB>
                    <a:noFill/>
                  </a:tcPr>
                </a:tc>
                <a:extLst>
                  <a:ext uri="{0D108BD9-81ED-4DB2-BD59-A6C34878D82A}">
                    <a16:rowId xmlns:a16="http://schemas.microsoft.com/office/drawing/2014/main" val="3378102952"/>
                  </a:ext>
                </a:extLst>
              </a:tr>
            </a:tbl>
          </a:graphicData>
        </a:graphic>
      </p:graphicFrame>
      <p:sp>
        <p:nvSpPr>
          <p:cNvPr id="4" name="TextBox 3">
            <a:extLst>
              <a:ext uri="{FF2B5EF4-FFF2-40B4-BE49-F238E27FC236}">
                <a16:creationId xmlns:a16="http://schemas.microsoft.com/office/drawing/2014/main" id="{21286739-3E89-08F6-CED7-CC40659AD454}"/>
              </a:ext>
            </a:extLst>
          </p:cNvPr>
          <p:cNvSpPr txBox="1"/>
          <p:nvPr/>
        </p:nvSpPr>
        <p:spPr>
          <a:xfrm>
            <a:off x="1263984" y="105758"/>
            <a:ext cx="5906835"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DATA DESCRIPTION</a:t>
            </a:r>
          </a:p>
        </p:txBody>
      </p:sp>
    </p:spTree>
    <p:extLst>
      <p:ext uri="{BB962C8B-B14F-4D97-AF65-F5344CB8AC3E}">
        <p14:creationId xmlns:p14="http://schemas.microsoft.com/office/powerpoint/2010/main" val="1171610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727432-27C0-9322-B6C9-0B6436E727BE}"/>
              </a:ext>
            </a:extLst>
          </p:cNvPr>
          <p:cNvSpPr txBox="1"/>
          <p:nvPr/>
        </p:nvSpPr>
        <p:spPr>
          <a:xfrm>
            <a:off x="1379621" y="176463"/>
            <a:ext cx="8454190"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PYTHON IMPLEMENTATION </a:t>
            </a:r>
          </a:p>
        </p:txBody>
      </p:sp>
      <p:sp>
        <p:nvSpPr>
          <p:cNvPr id="3" name="TextBox 2">
            <a:extLst>
              <a:ext uri="{FF2B5EF4-FFF2-40B4-BE49-F238E27FC236}">
                <a16:creationId xmlns:a16="http://schemas.microsoft.com/office/drawing/2014/main" id="{A48A6955-9D9C-83C0-632E-0B9CA5A49958}"/>
              </a:ext>
            </a:extLst>
          </p:cNvPr>
          <p:cNvSpPr txBox="1"/>
          <p:nvPr/>
        </p:nvSpPr>
        <p:spPr>
          <a:xfrm>
            <a:off x="1379621" y="945904"/>
            <a:ext cx="8839200" cy="535531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CO-2 IMPLEMENTATION</a:t>
            </a:r>
          </a:p>
          <a:p>
            <a:r>
              <a:rPr lang="en-IN" dirty="0">
                <a:latin typeface="Times New Roman" panose="02020603050405020304" pitchFamily="18" charset="0"/>
                <a:cs typeface="Times New Roman" panose="02020603050405020304" pitchFamily="18" charset="0"/>
              </a:rPr>
              <a:t># E-Commerce Customer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Analysis</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Import Libraries</a:t>
            </a:r>
          </a:p>
          <a:p>
            <a:r>
              <a:rPr lang="en-IN" dirty="0">
                <a:latin typeface="Times New Roman" panose="02020603050405020304" pitchFamily="18" charset="0"/>
                <a:cs typeface="Times New Roman" panose="02020603050405020304" pitchFamily="18" charset="0"/>
              </a:rPr>
              <a:t>import pandas as pd</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as np</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Load Dataset</a:t>
            </a:r>
          </a:p>
          <a:p>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pd.read_csv</a:t>
            </a:r>
            <a:r>
              <a:rPr lang="en-IN" dirty="0">
                <a:latin typeface="Times New Roman" panose="02020603050405020304" pitchFamily="18" charset="0"/>
                <a:cs typeface="Times New Roman" panose="02020603050405020304" pitchFamily="18" charset="0"/>
              </a:rPr>
              <a:t>("ecommerce.csv")</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Display First 5 Records</a:t>
            </a:r>
          </a:p>
          <a:p>
            <a:r>
              <a:rPr lang="en-IN" dirty="0">
                <a:latin typeface="Times New Roman" panose="02020603050405020304" pitchFamily="18" charset="0"/>
                <a:cs typeface="Times New Roman" panose="02020603050405020304" pitchFamily="18" charset="0"/>
              </a:rPr>
              <a:t>print("First 5 Records")</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df.head</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Dataset Information</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nDataset</a:t>
            </a:r>
            <a:r>
              <a:rPr lang="en-IN" dirty="0">
                <a:latin typeface="Times New Roman" panose="02020603050405020304" pitchFamily="18" charset="0"/>
                <a:cs typeface="Times New Roman" panose="02020603050405020304" pitchFamily="18" charset="0"/>
              </a:rPr>
              <a:t> Information")</a:t>
            </a:r>
          </a:p>
          <a:p>
            <a:r>
              <a:rPr lang="en-IN" dirty="0">
                <a:latin typeface="Times New Roman" panose="02020603050405020304" pitchFamily="18" charset="0"/>
                <a:cs typeface="Times New Roman" panose="02020603050405020304" pitchFamily="18" charset="0"/>
              </a:rPr>
              <a:t>print(df.info())</a:t>
            </a:r>
          </a:p>
        </p:txBody>
      </p:sp>
    </p:spTree>
    <p:extLst>
      <p:ext uri="{BB962C8B-B14F-4D97-AF65-F5344CB8AC3E}">
        <p14:creationId xmlns:p14="http://schemas.microsoft.com/office/powerpoint/2010/main" val="2050347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0DB516-D690-F33F-2676-1D2FD57A7D25}"/>
              </a:ext>
            </a:extLst>
          </p:cNvPr>
          <p:cNvSpPr txBox="1"/>
          <p:nvPr/>
        </p:nvSpPr>
        <p:spPr>
          <a:xfrm>
            <a:off x="1443789" y="-320842"/>
            <a:ext cx="9304421" cy="7294305"/>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TYPES OF DATA</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nData</a:t>
            </a:r>
            <a:r>
              <a:rPr lang="en-IN" dirty="0">
                <a:latin typeface="Times New Roman" panose="02020603050405020304" pitchFamily="18" charset="0"/>
                <a:cs typeface="Times New Roman" panose="02020603050405020304" pitchFamily="18" charset="0"/>
              </a:rPr>
              <a:t> Types")</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df.dtypes</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MEASURES OF CENTRAL TENDENCY</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Mean</a:t>
            </a:r>
          </a:p>
          <a:p>
            <a:r>
              <a:rPr lang="en-IN" dirty="0" err="1">
                <a:latin typeface="Times New Roman" panose="02020603050405020304" pitchFamily="18" charset="0"/>
                <a:cs typeface="Times New Roman" panose="02020603050405020304" pitchFamily="18" charset="0"/>
              </a:rPr>
              <a:t>mean_price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['price'].mean()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Median</a:t>
            </a:r>
          </a:p>
          <a:p>
            <a:r>
              <a:rPr lang="en-IN" dirty="0" err="1">
                <a:latin typeface="Times New Roman" panose="02020603050405020304" pitchFamily="18" charset="0"/>
                <a:cs typeface="Times New Roman" panose="02020603050405020304" pitchFamily="18" charset="0"/>
              </a:rPr>
              <a:t>median_price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['price'].median()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Mode</a:t>
            </a:r>
          </a:p>
          <a:p>
            <a:r>
              <a:rPr lang="en-IN" dirty="0" err="1">
                <a:latin typeface="Times New Roman" panose="02020603050405020304" pitchFamily="18" charset="0"/>
                <a:cs typeface="Times New Roman" panose="02020603050405020304" pitchFamily="18" charset="0"/>
              </a:rPr>
              <a:t>mode_price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['price'].mode()[0]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nMEAN</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mean_price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print("MEDIAN =", </a:t>
            </a:r>
            <a:r>
              <a:rPr lang="en-IN" dirty="0" err="1">
                <a:latin typeface="Times New Roman" panose="02020603050405020304" pitchFamily="18" charset="0"/>
                <a:cs typeface="Times New Roman" panose="02020603050405020304" pitchFamily="18" charset="0"/>
              </a:rPr>
              <a:t>median_price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print("MODE =", </a:t>
            </a:r>
            <a:r>
              <a:rPr lang="en-IN" dirty="0" err="1">
                <a:latin typeface="Times New Roman" panose="02020603050405020304" pitchFamily="18" charset="0"/>
                <a:cs typeface="Times New Roman" panose="02020603050405020304" pitchFamily="18" charset="0"/>
              </a:rPr>
              <a:t>mode_price</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9772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0AA538-5CA3-F3F0-6BCD-D6A79C228610}"/>
              </a:ext>
            </a:extLst>
          </p:cNvPr>
          <p:cNvSpPr txBox="1"/>
          <p:nvPr/>
        </p:nvSpPr>
        <p:spPr>
          <a:xfrm>
            <a:off x="1315453" y="0"/>
            <a:ext cx="7988968" cy="729430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MEASURES OF DISPERSION</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Range</a:t>
            </a:r>
          </a:p>
          <a:p>
            <a:r>
              <a:rPr lang="en-IN" dirty="0" err="1">
                <a:latin typeface="Times New Roman" panose="02020603050405020304" pitchFamily="18" charset="0"/>
                <a:cs typeface="Times New Roman" panose="02020603050405020304" pitchFamily="18" charset="0"/>
              </a:rPr>
              <a:t>price_range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['price'].max()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['price'].min()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Variance</a:t>
            </a:r>
          </a:p>
          <a:p>
            <a:r>
              <a:rPr lang="en-IN" dirty="0" err="1">
                <a:latin typeface="Times New Roman" panose="02020603050405020304" pitchFamily="18" charset="0"/>
                <a:cs typeface="Times New Roman" panose="02020603050405020304" pitchFamily="18" charset="0"/>
              </a:rPr>
              <a:t>variance_price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['price'].var()</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Standard Deviation</a:t>
            </a:r>
          </a:p>
          <a:p>
            <a:r>
              <a:rPr lang="en-IN" dirty="0" err="1">
                <a:latin typeface="Times New Roman" panose="02020603050405020304" pitchFamily="18" charset="0"/>
                <a:cs typeface="Times New Roman" panose="02020603050405020304" pitchFamily="18" charset="0"/>
              </a:rPr>
              <a:t>std_price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['price'].std()</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nRANGE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price_range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print("VARIANCE =", </a:t>
            </a:r>
            <a:r>
              <a:rPr lang="en-IN" dirty="0" err="1">
                <a:latin typeface="Times New Roman" panose="02020603050405020304" pitchFamily="18" charset="0"/>
                <a:cs typeface="Times New Roman" panose="02020603050405020304" pitchFamily="18" charset="0"/>
              </a:rPr>
              <a:t>variance_price</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print("STANDARD DEVIATION =", </a:t>
            </a:r>
            <a:r>
              <a:rPr lang="en-IN" dirty="0" err="1">
                <a:latin typeface="Times New Roman" panose="02020603050405020304" pitchFamily="18" charset="0"/>
                <a:cs typeface="Times New Roman" panose="02020603050405020304" pitchFamily="18" charset="0"/>
              </a:rPr>
              <a:t>std_price</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QUARTILES</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Q1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['price'].quantile(0.25)</a:t>
            </a:r>
          </a:p>
          <a:p>
            <a:r>
              <a:rPr lang="en-IN" dirty="0">
                <a:latin typeface="Times New Roman" panose="02020603050405020304" pitchFamily="18" charset="0"/>
                <a:cs typeface="Times New Roman" panose="02020603050405020304" pitchFamily="18" charset="0"/>
              </a:rPr>
              <a:t>Q2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['price'].quantile(0.50)</a:t>
            </a:r>
          </a:p>
          <a:p>
            <a:r>
              <a:rPr lang="en-IN" dirty="0">
                <a:latin typeface="Times New Roman" panose="02020603050405020304" pitchFamily="18" charset="0"/>
                <a:cs typeface="Times New Roman" panose="02020603050405020304" pitchFamily="18" charset="0"/>
              </a:rPr>
              <a:t>Q3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['price'].quantile(0.75)</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360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4ED8C5-B1EF-05B9-FCE5-C7F4ACA824CC}"/>
              </a:ext>
            </a:extLst>
          </p:cNvPr>
          <p:cNvSpPr txBox="1"/>
          <p:nvPr/>
        </p:nvSpPr>
        <p:spPr>
          <a:xfrm>
            <a:off x="1524000" y="0"/>
            <a:ext cx="8630652" cy="7017306"/>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print("\nQ1 =", Q1)</a:t>
            </a:r>
          </a:p>
          <a:p>
            <a:r>
              <a:rPr lang="en-IN" dirty="0">
                <a:latin typeface="Times New Roman" panose="02020603050405020304" pitchFamily="18" charset="0"/>
                <a:cs typeface="Times New Roman" panose="02020603050405020304" pitchFamily="18" charset="0"/>
              </a:rPr>
              <a:t>print("Q2 (Median) =", Q2)</a:t>
            </a:r>
          </a:p>
          <a:p>
            <a:r>
              <a:rPr lang="en-IN" dirty="0">
                <a:latin typeface="Times New Roman" panose="02020603050405020304" pitchFamily="18" charset="0"/>
                <a:cs typeface="Times New Roman" panose="02020603050405020304" pitchFamily="18" charset="0"/>
              </a:rPr>
              <a:t>print("Q3 =", Q3)</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INTERQUARTILE RANGE (IQR)</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IQR = Q3 - Q1</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nIQR</a:t>
            </a:r>
            <a:r>
              <a:rPr lang="en-IN" dirty="0">
                <a:latin typeface="Times New Roman" panose="02020603050405020304" pitchFamily="18" charset="0"/>
                <a:cs typeface="Times New Roman" panose="02020603050405020304" pitchFamily="18" charset="0"/>
              </a:rPr>
              <a:t> =", IQR)</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PERCENTILES</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P25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['price'].quantile(0.25)</a:t>
            </a:r>
          </a:p>
          <a:p>
            <a:r>
              <a:rPr lang="en-IN" dirty="0">
                <a:latin typeface="Times New Roman" panose="02020603050405020304" pitchFamily="18" charset="0"/>
                <a:cs typeface="Times New Roman" panose="02020603050405020304" pitchFamily="18" charset="0"/>
              </a:rPr>
              <a:t>P50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['price'].quantile(0.50)</a:t>
            </a:r>
          </a:p>
          <a:p>
            <a:r>
              <a:rPr lang="en-IN" dirty="0">
                <a:latin typeface="Times New Roman" panose="02020603050405020304" pitchFamily="18" charset="0"/>
                <a:cs typeface="Times New Roman" panose="02020603050405020304" pitchFamily="18" charset="0"/>
              </a:rPr>
              <a:t>P75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['price'].quantile(0.75)</a:t>
            </a:r>
          </a:p>
          <a:p>
            <a:r>
              <a:rPr lang="en-IN" dirty="0">
                <a:latin typeface="Times New Roman" panose="02020603050405020304" pitchFamily="18" charset="0"/>
                <a:cs typeface="Times New Roman" panose="02020603050405020304" pitchFamily="18" charset="0"/>
              </a:rPr>
              <a:t>P90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['price'].quantile(0.90)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print("\n25th Percentile =", P25)</a:t>
            </a:r>
          </a:p>
          <a:p>
            <a:r>
              <a:rPr lang="en-IN" dirty="0">
                <a:latin typeface="Times New Roman" panose="02020603050405020304" pitchFamily="18" charset="0"/>
                <a:cs typeface="Times New Roman" panose="02020603050405020304" pitchFamily="18" charset="0"/>
              </a:rPr>
              <a:t>print("50th Percentile =", P50)</a:t>
            </a:r>
          </a:p>
          <a:p>
            <a:r>
              <a:rPr lang="en-IN" dirty="0">
                <a:latin typeface="Times New Roman" panose="02020603050405020304" pitchFamily="18" charset="0"/>
                <a:cs typeface="Times New Roman" panose="02020603050405020304" pitchFamily="18" charset="0"/>
              </a:rPr>
              <a:t>print("75th Percentile =", P75)</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104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BE32C8-011F-5BF1-C761-5889FC110F28}"/>
              </a:ext>
            </a:extLst>
          </p:cNvPr>
          <p:cNvSpPr txBox="1"/>
          <p:nvPr/>
        </p:nvSpPr>
        <p:spPr>
          <a:xfrm>
            <a:off x="1556084" y="0"/>
            <a:ext cx="7411453" cy="424731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print("90th Percentile =", P90)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SUMMARY STATISTICS</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nSummary</a:t>
            </a:r>
            <a:r>
              <a:rPr lang="en-IN" dirty="0">
                <a:latin typeface="Times New Roman" panose="02020603050405020304" pitchFamily="18" charset="0"/>
                <a:cs typeface="Times New Roman" panose="02020603050405020304" pitchFamily="18" charset="0"/>
              </a:rPr>
              <a:t> Statistics")</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['price'].describe())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INTERPRETATION</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nStatistical</a:t>
            </a:r>
            <a:r>
              <a:rPr lang="en-IN" dirty="0">
                <a:latin typeface="Times New Roman" panose="02020603050405020304" pitchFamily="18" charset="0"/>
                <a:cs typeface="Times New Roman" panose="02020603050405020304" pitchFamily="18" charset="0"/>
              </a:rPr>
              <a:t> Analysis Completed Successfully")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3563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BFDF5C7-D78E-103D-1189-62B1AD72B016}"/>
                  </a:ext>
                </a:extLst>
              </p:cNvPr>
              <p:cNvSpPr txBox="1"/>
              <p:nvPr/>
            </p:nvSpPr>
            <p:spPr>
              <a:xfrm>
                <a:off x="1419726" y="0"/>
                <a:ext cx="9352547" cy="723743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Formulas Used in CO-2</a:t>
                </a:r>
              </a:p>
              <a:p>
                <a:r>
                  <a:rPr lang="en-IN" b="1" dirty="0">
                    <a:latin typeface="Times New Roman" panose="02020603050405020304" pitchFamily="18" charset="0"/>
                    <a:cs typeface="Times New Roman" panose="02020603050405020304" pitchFamily="18" charset="0"/>
                  </a:rPr>
                  <a:t>Mean</a:t>
                </a:r>
              </a:p>
              <a:p>
                <a:pPr/>
                <a14:m>
                  <m:oMathPara xmlns:m="http://schemas.openxmlformats.org/officeDocument/2006/math">
                    <m:oMathParaPr>
                      <m:jc m:val="centerGroup"/>
                    </m:oMathParaPr>
                    <m:oMath xmlns:m="http://schemas.openxmlformats.org/officeDocument/2006/math">
                      <m:r>
                        <m:rPr>
                          <m:nor/>
                        </m:rPr>
                        <a:rPr lang="en-IN" b="0">
                          <a:latin typeface="Times New Roman" panose="02020603050405020304" pitchFamily="18" charset="0"/>
                          <a:cs typeface="Times New Roman" panose="02020603050405020304" pitchFamily="18" charset="0"/>
                        </a:rPr>
                        <m:t>Mean</m:t>
                      </m:r>
                      <m:r>
                        <a:rPr lang="en-IN">
                          <a:latin typeface="Cambria Math" panose="02040503050406030204" pitchFamily="18" charset="0"/>
                        </a:rPr>
                        <m:t>=</m:t>
                      </m:r>
                      <m:f>
                        <m:fPr>
                          <m:ctrlPr>
                            <a:rPr lang="en-IN" i="1">
                              <a:latin typeface="Cambria Math" panose="02040503050406030204" pitchFamily="18" charset="0"/>
                            </a:rPr>
                          </m:ctrlPr>
                        </m:fPr>
                        <m:num>
                          <m:nary>
                            <m:naryPr>
                              <m:chr m:val="∑"/>
                              <m:grow m:val="on"/>
                              <m:subHide m:val="on"/>
                              <m:supHide m:val="on"/>
                              <m:ctrlPr>
                                <a:rPr lang="en-IN" i="1">
                                  <a:latin typeface="Cambria Math" panose="02040503050406030204" pitchFamily="18" charset="0"/>
                                </a:rPr>
                              </m:ctrlPr>
                            </m:naryPr>
                            <m:sub/>
                            <m:sup/>
                            <m:e>
                              <m:r>
                                <a:rPr lang="en-IN" i="1">
                                  <a:latin typeface="Cambria Math" panose="02040503050406030204" pitchFamily="18" charset="0"/>
                                </a:rPr>
                                <m:t>𝑋</m:t>
                              </m:r>
                            </m:e>
                          </m:nary>
                        </m:num>
                        <m:den>
                          <m:r>
                            <a:rPr lang="en-IN" i="1">
                              <a:latin typeface="Cambria Math" panose="02040503050406030204" pitchFamily="18" charset="0"/>
                            </a:rPr>
                            <m:t>𝑁</m:t>
                          </m:r>
                        </m:den>
                      </m:f>
                    </m:oMath>
                  </m:oMathPara>
                </a14:m>
                <a:endParaRPr lang="en-IN" b="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Median</a:t>
                </a:r>
              </a:p>
              <a:p>
                <a:pPr/>
                <a14:m>
                  <m:oMathPara xmlns:m="http://schemas.openxmlformats.org/officeDocument/2006/math">
                    <m:oMathParaPr>
                      <m:jc m:val="centerGroup"/>
                    </m:oMathParaPr>
                    <m:oMath xmlns:m="http://schemas.openxmlformats.org/officeDocument/2006/math">
                      <m:r>
                        <m:rPr>
                          <m:nor/>
                        </m:rPr>
                        <a:rPr lang="en-IN" b="0">
                          <a:latin typeface="Times New Roman" panose="02020603050405020304" pitchFamily="18" charset="0"/>
                          <a:cs typeface="Times New Roman" panose="02020603050405020304" pitchFamily="18" charset="0"/>
                        </a:rPr>
                        <m:t>Median</m:t>
                      </m:r>
                      <m:r>
                        <a:rPr lang="en-IN">
                          <a:latin typeface="Cambria Math" panose="02040503050406030204" pitchFamily="18" charset="0"/>
                        </a:rPr>
                        <m:t>=</m:t>
                      </m:r>
                      <m:r>
                        <m:rPr>
                          <m:nor/>
                        </m:rPr>
                        <a:rPr lang="en-IN" i="1">
                          <a:latin typeface="Times New Roman" panose="02020603050405020304" pitchFamily="18" charset="0"/>
                          <a:cs typeface="Times New Roman" panose="02020603050405020304" pitchFamily="18" charset="0"/>
                        </a:rPr>
                        <m:t>Middle</m:t>
                      </m:r>
                      <m:r>
                        <m:rPr>
                          <m:nor/>
                        </m:rPr>
                        <a:rPr lang="en-IN" i="1">
                          <a:latin typeface="Times New Roman" panose="02020603050405020304" pitchFamily="18" charset="0"/>
                          <a:cs typeface="Times New Roman" panose="02020603050405020304" pitchFamily="18" charset="0"/>
                        </a:rPr>
                        <m:t> </m:t>
                      </m:r>
                      <m:r>
                        <m:rPr>
                          <m:nor/>
                        </m:rPr>
                        <a:rPr lang="en-IN" i="1">
                          <a:latin typeface="Times New Roman" panose="02020603050405020304" pitchFamily="18" charset="0"/>
                          <a:cs typeface="Times New Roman" panose="02020603050405020304" pitchFamily="18" charset="0"/>
                        </a:rPr>
                        <m:t>Value</m:t>
                      </m:r>
                    </m:oMath>
                  </m:oMathPara>
                </a14:m>
                <a:endParaRPr lang="en-IN" b="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Mode</a:t>
                </a:r>
              </a:p>
              <a:p>
                <a:pPr/>
                <a14:m>
                  <m:oMathPara xmlns:m="http://schemas.openxmlformats.org/officeDocument/2006/math">
                    <m:oMathParaPr>
                      <m:jc m:val="centerGroup"/>
                    </m:oMathParaPr>
                    <m:oMath xmlns:m="http://schemas.openxmlformats.org/officeDocument/2006/math">
                      <m:r>
                        <m:rPr>
                          <m:nor/>
                        </m:rPr>
                        <a:rPr lang="en-IN" b="0">
                          <a:latin typeface="Times New Roman" panose="02020603050405020304" pitchFamily="18" charset="0"/>
                          <a:cs typeface="Times New Roman" panose="02020603050405020304" pitchFamily="18" charset="0"/>
                        </a:rPr>
                        <m:t>Mode</m:t>
                      </m:r>
                      <m:r>
                        <a:rPr lang="en-IN">
                          <a:latin typeface="Cambria Math" panose="02040503050406030204" pitchFamily="18" charset="0"/>
                        </a:rPr>
                        <m:t>=</m:t>
                      </m:r>
                      <m:r>
                        <m:rPr>
                          <m:nor/>
                        </m:rPr>
                        <a:rPr lang="en-IN" i="1">
                          <a:latin typeface="Times New Roman" panose="02020603050405020304" pitchFamily="18" charset="0"/>
                          <a:cs typeface="Times New Roman" panose="02020603050405020304" pitchFamily="18" charset="0"/>
                        </a:rPr>
                        <m:t>Most</m:t>
                      </m:r>
                      <m:r>
                        <m:rPr>
                          <m:nor/>
                        </m:rPr>
                        <a:rPr lang="en-IN" i="1">
                          <a:latin typeface="Times New Roman" panose="02020603050405020304" pitchFamily="18" charset="0"/>
                          <a:cs typeface="Times New Roman" panose="02020603050405020304" pitchFamily="18" charset="0"/>
                        </a:rPr>
                        <m:t> </m:t>
                      </m:r>
                      <m:r>
                        <m:rPr>
                          <m:nor/>
                        </m:rPr>
                        <a:rPr lang="en-IN" i="1">
                          <a:latin typeface="Times New Roman" panose="02020603050405020304" pitchFamily="18" charset="0"/>
                          <a:cs typeface="Times New Roman" panose="02020603050405020304" pitchFamily="18" charset="0"/>
                        </a:rPr>
                        <m:t>Frequent</m:t>
                      </m:r>
                      <m:r>
                        <m:rPr>
                          <m:nor/>
                        </m:rPr>
                        <a:rPr lang="en-IN" i="1">
                          <a:latin typeface="Times New Roman" panose="02020603050405020304" pitchFamily="18" charset="0"/>
                          <a:cs typeface="Times New Roman" panose="02020603050405020304" pitchFamily="18" charset="0"/>
                        </a:rPr>
                        <m:t> </m:t>
                      </m:r>
                      <m:r>
                        <m:rPr>
                          <m:nor/>
                        </m:rPr>
                        <a:rPr lang="en-IN" i="1">
                          <a:latin typeface="Times New Roman" panose="02020603050405020304" pitchFamily="18" charset="0"/>
                          <a:cs typeface="Times New Roman" panose="02020603050405020304" pitchFamily="18" charset="0"/>
                        </a:rPr>
                        <m:t>Value</m:t>
                      </m:r>
                    </m:oMath>
                  </m:oMathPara>
                </a14:m>
                <a:endParaRPr lang="en-IN" b="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Range</a:t>
                </a:r>
              </a:p>
              <a:p>
                <a:pPr/>
                <a14:m>
                  <m:oMathPara xmlns:m="http://schemas.openxmlformats.org/officeDocument/2006/math">
                    <m:oMathParaPr>
                      <m:jc m:val="centerGroup"/>
                    </m:oMathParaPr>
                    <m:oMath xmlns:m="http://schemas.openxmlformats.org/officeDocument/2006/math">
                      <m:r>
                        <m:rPr>
                          <m:nor/>
                        </m:rPr>
                        <a:rPr lang="en-IN" b="0">
                          <a:latin typeface="Times New Roman" panose="02020603050405020304" pitchFamily="18" charset="0"/>
                          <a:cs typeface="Times New Roman" panose="02020603050405020304" pitchFamily="18" charset="0"/>
                        </a:rPr>
                        <m:t>Range</m:t>
                      </m:r>
                      <m:r>
                        <a:rPr lang="en-IN">
                          <a:latin typeface="Cambria Math" panose="02040503050406030204" pitchFamily="18" charset="0"/>
                        </a:rPr>
                        <m:t>=</m:t>
                      </m:r>
                      <m:r>
                        <m:rPr>
                          <m:nor/>
                        </m:rPr>
                        <a:rPr lang="en-IN" i="1">
                          <a:latin typeface="Times New Roman" panose="02020603050405020304" pitchFamily="18" charset="0"/>
                          <a:cs typeface="Times New Roman" panose="02020603050405020304" pitchFamily="18" charset="0"/>
                        </a:rPr>
                        <m:t>Maximum</m:t>
                      </m:r>
                      <m:r>
                        <m:rPr>
                          <m:nor/>
                        </m:rPr>
                        <a:rPr lang="en-IN" i="1">
                          <a:latin typeface="Times New Roman" panose="02020603050405020304" pitchFamily="18" charset="0"/>
                          <a:cs typeface="Times New Roman" panose="02020603050405020304" pitchFamily="18" charset="0"/>
                        </a:rPr>
                        <m:t> </m:t>
                      </m:r>
                      <m:r>
                        <m:rPr>
                          <m:nor/>
                        </m:rPr>
                        <a:rPr lang="en-IN" i="1">
                          <a:latin typeface="Times New Roman" panose="02020603050405020304" pitchFamily="18" charset="0"/>
                          <a:cs typeface="Times New Roman" panose="02020603050405020304" pitchFamily="18" charset="0"/>
                        </a:rPr>
                        <m:t>Value</m:t>
                      </m:r>
                      <m:r>
                        <a:rPr lang="en-IN">
                          <a:latin typeface="Cambria Math" panose="02040503050406030204" pitchFamily="18" charset="0"/>
                        </a:rPr>
                        <m:t>−</m:t>
                      </m:r>
                      <m:r>
                        <m:rPr>
                          <m:nor/>
                        </m:rPr>
                        <a:rPr lang="en-IN" i="1">
                          <a:latin typeface="Times New Roman" panose="02020603050405020304" pitchFamily="18" charset="0"/>
                          <a:cs typeface="Times New Roman" panose="02020603050405020304" pitchFamily="18" charset="0"/>
                        </a:rPr>
                        <m:t>Minimum</m:t>
                      </m:r>
                      <m:r>
                        <m:rPr>
                          <m:nor/>
                        </m:rPr>
                        <a:rPr lang="en-IN" i="1">
                          <a:latin typeface="Times New Roman" panose="02020603050405020304" pitchFamily="18" charset="0"/>
                          <a:cs typeface="Times New Roman" panose="02020603050405020304" pitchFamily="18" charset="0"/>
                        </a:rPr>
                        <m:t> </m:t>
                      </m:r>
                      <m:r>
                        <m:rPr>
                          <m:nor/>
                        </m:rPr>
                        <a:rPr lang="en-IN" i="1">
                          <a:latin typeface="Times New Roman" panose="02020603050405020304" pitchFamily="18" charset="0"/>
                          <a:cs typeface="Times New Roman" panose="02020603050405020304" pitchFamily="18" charset="0"/>
                        </a:rPr>
                        <m:t>Value</m:t>
                      </m:r>
                    </m:oMath>
                  </m:oMathPara>
                </a14:m>
                <a:endParaRPr lang="en-IN" b="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Variance</a:t>
                </a:r>
              </a:p>
              <a:p>
                <a:pPr/>
                <a14:m>
                  <m:oMathPara xmlns:m="http://schemas.openxmlformats.org/officeDocument/2006/math">
                    <m:oMathParaPr>
                      <m:jc m:val="centerGroup"/>
                    </m:oMathParaPr>
                    <m:oMath xmlns:m="http://schemas.openxmlformats.org/officeDocument/2006/math">
                      <m:r>
                        <m:rPr>
                          <m:nor/>
                        </m:rPr>
                        <a:rPr lang="en-IN" b="0">
                          <a:latin typeface="Times New Roman" panose="02020603050405020304" pitchFamily="18" charset="0"/>
                          <a:cs typeface="Times New Roman" panose="02020603050405020304" pitchFamily="18" charset="0"/>
                        </a:rPr>
                        <m:t>Variance</m:t>
                      </m:r>
                      <m:r>
                        <a:rPr lang="en-IN">
                          <a:latin typeface="Cambria Math" panose="02040503050406030204" pitchFamily="18" charset="0"/>
                        </a:rPr>
                        <m:t>=</m:t>
                      </m:r>
                      <m:f>
                        <m:fPr>
                          <m:ctrlPr>
                            <a:rPr lang="en-IN" i="1">
                              <a:latin typeface="Cambria Math" panose="02040503050406030204" pitchFamily="18" charset="0"/>
                            </a:rPr>
                          </m:ctrlPr>
                        </m:fPr>
                        <m:num>
                          <m:nary>
                            <m:naryPr>
                              <m:chr m:val="∑"/>
                              <m:grow m:val="on"/>
                              <m:subHide m:val="on"/>
                              <m:supHide m:val="on"/>
                              <m:ctrlPr>
                                <a:rPr lang="en-IN" i="1">
                                  <a:latin typeface="Cambria Math" panose="02040503050406030204" pitchFamily="18" charset="0"/>
                                </a:rPr>
                              </m:ctrlPr>
                            </m:naryPr>
                            <m:sub/>
                            <m:sup/>
                            <m:e>
                              <m:r>
                                <a:rPr lang="en-IN">
                                  <a:latin typeface="Cambria Math" panose="02040503050406030204" pitchFamily="18" charset="0"/>
                                </a:rPr>
                                <m:t>(</m:t>
                              </m:r>
                            </m:e>
                          </m:nary>
                          <m:d>
                            <m:dPr>
                              <m:begChr m:val=""/>
                              <m:endChr m:val=""/>
                              <m:ctrlPr>
                                <a:rPr lang="en-IN" i="1">
                                  <a:latin typeface="Cambria Math" panose="02040503050406030204" pitchFamily="18" charset="0"/>
                                </a:rPr>
                              </m:ctrlPr>
                            </m:dPr>
                            <m:e>
                              <m:r>
                                <a:rPr lang="en-IN" i="1">
                                  <a:latin typeface="Cambria Math" panose="02040503050406030204" pitchFamily="18" charset="0"/>
                                </a:rPr>
                                <m:t>𝑋</m:t>
                              </m:r>
                              <m:r>
                                <a:rPr lang="en-IN">
                                  <a:latin typeface="Cambria Math" panose="02040503050406030204" pitchFamily="18" charset="0"/>
                                </a:rPr>
                                <m:t>−</m:t>
                              </m:r>
                              <m:limUpp>
                                <m:limUppPr>
                                  <m:ctrlPr>
                                    <a:rPr lang="en-IN" i="1">
                                      <a:latin typeface="Cambria Math" panose="02040503050406030204" pitchFamily="18" charset="0"/>
                                    </a:rPr>
                                  </m:ctrlPr>
                                </m:limUppPr>
                                <m:e>
                                  <m:r>
                                    <a:rPr lang="en-IN" i="1">
                                      <a:latin typeface="Cambria Math" panose="02040503050406030204" pitchFamily="18" charset="0"/>
                                    </a:rPr>
                                    <m:t>𝑋</m:t>
                                  </m:r>
                                </m:e>
                                <m:lim>
                                  <m:r>
                                    <a:rPr lang="en-IN">
                                      <a:latin typeface="Cambria Math" panose="02040503050406030204" pitchFamily="18" charset="0"/>
                                    </a:rPr>
                                    <m:t>ˉ</m:t>
                                  </m:r>
                                </m:lim>
                              </m:limUpp>
                              <m:sSup>
                                <m:sSupPr>
                                  <m:ctrlPr>
                                    <a:rPr lang="en-IN" i="1">
                                      <a:latin typeface="Cambria Math" panose="02040503050406030204" pitchFamily="18" charset="0"/>
                                    </a:rPr>
                                  </m:ctrlPr>
                                </m:sSupPr>
                                <m:e>
                                  <m:d>
                                    <m:dPr>
                                      <m:begChr m:val=""/>
                                      <m:endChr m:val=""/>
                                      <m:ctrlPr>
                                        <a:rPr lang="en-IN" i="1">
                                          <a:latin typeface="Cambria Math" panose="02040503050406030204" pitchFamily="18" charset="0"/>
                                        </a:rPr>
                                      </m:ctrlPr>
                                    </m:dPr>
                                    <m:e>
                                      <m:r>
                                        <a:rPr lang="en-IN">
                                          <a:latin typeface="Cambria Math" panose="02040503050406030204" pitchFamily="18" charset="0"/>
                                        </a:rPr>
                                        <m:t>)</m:t>
                                      </m:r>
                                    </m:e>
                                  </m:d>
                                </m:e>
                                <m:sup>
                                  <m:r>
                                    <a:rPr lang="en-IN">
                                      <a:latin typeface="Cambria Math" panose="02040503050406030204" pitchFamily="18" charset="0"/>
                                    </a:rPr>
                                    <m:t>2</m:t>
                                  </m:r>
                                </m:sup>
                              </m:sSup>
                            </m:e>
                          </m:d>
                        </m:num>
                        <m:den>
                          <m:r>
                            <a:rPr lang="en-IN" i="1">
                              <a:latin typeface="Cambria Math" panose="02040503050406030204" pitchFamily="18" charset="0"/>
                            </a:rPr>
                            <m:t>𝑁</m:t>
                          </m:r>
                        </m:den>
                      </m:f>
                    </m:oMath>
                  </m:oMathPara>
                </a14:m>
                <a:endParaRPr lang="en-IN" b="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Standard Deviation</a:t>
                </a:r>
              </a:p>
              <a:p>
                <a:pPr/>
                <a14:m>
                  <m:oMathPara xmlns:m="http://schemas.openxmlformats.org/officeDocument/2006/math">
                    <m:oMathParaPr>
                      <m:jc m:val="centerGroup"/>
                    </m:oMathParaPr>
                    <m:oMath xmlns:m="http://schemas.openxmlformats.org/officeDocument/2006/math">
                      <m:r>
                        <m:rPr>
                          <m:nor/>
                        </m:rPr>
                        <a:rPr lang="en-IN" b="0">
                          <a:latin typeface="Times New Roman" panose="02020603050405020304" pitchFamily="18" charset="0"/>
                          <a:cs typeface="Times New Roman" panose="02020603050405020304" pitchFamily="18" charset="0"/>
                        </a:rPr>
                        <m:t>Standard</m:t>
                      </m:r>
                      <m:r>
                        <m:rPr>
                          <m:nor/>
                        </m:rPr>
                        <a:rPr lang="en-IN" b="0" i="1">
                          <a:latin typeface="Times New Roman" panose="02020603050405020304" pitchFamily="18" charset="0"/>
                          <a:cs typeface="Times New Roman" panose="02020603050405020304" pitchFamily="18" charset="0"/>
                        </a:rPr>
                        <m:t> </m:t>
                      </m:r>
                      <m:r>
                        <m:rPr>
                          <m:nor/>
                        </m:rPr>
                        <a:rPr lang="en-IN" b="0" i="1">
                          <a:latin typeface="Times New Roman" panose="02020603050405020304" pitchFamily="18" charset="0"/>
                          <a:cs typeface="Times New Roman" panose="02020603050405020304" pitchFamily="18" charset="0"/>
                        </a:rPr>
                        <m:t>Deviation</m:t>
                      </m:r>
                      <m:r>
                        <a:rPr lang="en-IN">
                          <a:latin typeface="Cambria Math" panose="02040503050406030204" pitchFamily="18" charset="0"/>
                        </a:rPr>
                        <m:t>=</m:t>
                      </m:r>
                      <m:rad>
                        <m:radPr>
                          <m:degHide m:val="on"/>
                          <m:ctrlPr>
                            <a:rPr lang="en-IN" i="1">
                              <a:latin typeface="Cambria Math" panose="02040503050406030204" pitchFamily="18" charset="0"/>
                            </a:rPr>
                          </m:ctrlPr>
                        </m:radPr>
                        <m:deg/>
                        <m:e>
                          <m:r>
                            <m:rPr>
                              <m:nor/>
                            </m:rPr>
                            <a:rPr lang="en-IN" i="1">
                              <a:latin typeface="Times New Roman" panose="02020603050405020304" pitchFamily="18" charset="0"/>
                              <a:cs typeface="Times New Roman" panose="02020603050405020304" pitchFamily="18" charset="0"/>
                            </a:rPr>
                            <m:t>Variance</m:t>
                          </m:r>
                        </m:e>
                      </m:rad>
                    </m:oMath>
                  </m:oMathPara>
                </a14:m>
                <a:endParaRPr lang="en-IN" b="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Quartiles</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𝑄</m:t>
                      </m:r>
                      <m:r>
                        <a:rPr lang="en-IN">
                          <a:latin typeface="Cambria Math" panose="02040503050406030204" pitchFamily="18" charset="0"/>
                        </a:rPr>
                        <m:t>1=25%</m:t>
                      </m:r>
                    </m:oMath>
                  </m:oMathPara>
                </a14:m>
                <a:endParaRPr lang="en-IN"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𝑄</m:t>
                      </m:r>
                      <m:r>
                        <a:rPr lang="en-IN">
                          <a:latin typeface="Cambria Math" panose="02040503050406030204" pitchFamily="18" charset="0"/>
                        </a:rPr>
                        <m:t>2=50%</m:t>
                      </m:r>
                      <m:r>
                        <m:rPr>
                          <m:nor/>
                        </m:rPr>
                        <a:rPr lang="en-IN" i="1">
                          <a:latin typeface="Times New Roman" panose="02020603050405020304" pitchFamily="18" charset="0"/>
                          <a:cs typeface="Times New Roman" panose="02020603050405020304" pitchFamily="18" charset="0"/>
                        </a:rPr>
                        <m:t>  </m:t>
                      </m:r>
                      <m:d>
                        <m:dPr>
                          <m:ctrlPr>
                            <a:rPr lang="en-IN" i="1">
                              <a:latin typeface="Cambria Math" panose="02040503050406030204" pitchFamily="18" charset="0"/>
                            </a:rPr>
                          </m:ctrlPr>
                        </m:dPr>
                        <m:e>
                          <m:r>
                            <m:rPr>
                              <m:nor/>
                            </m:rPr>
                            <a:rPr lang="en-IN" i="1">
                              <a:latin typeface="Times New Roman" panose="02020603050405020304" pitchFamily="18" charset="0"/>
                              <a:cs typeface="Times New Roman" panose="02020603050405020304" pitchFamily="18" charset="0"/>
                            </a:rPr>
                            <m:t>Median</m:t>
                          </m:r>
                        </m:e>
                      </m:d>
                    </m:oMath>
                  </m:oMathPara>
                </a14:m>
                <a:endParaRPr lang="en-IN" b="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𝑄</m:t>
                      </m:r>
                      <m:r>
                        <a:rPr lang="en-IN">
                          <a:latin typeface="Cambria Math" panose="02040503050406030204" pitchFamily="18" charset="0"/>
                        </a:rPr>
                        <m:t>3=75%</m:t>
                      </m:r>
                    </m:oMath>
                  </m:oMathPara>
                </a14:m>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Interquartile Range</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𝐼𝑄𝑅</m:t>
                      </m:r>
                      <m:r>
                        <a:rPr lang="en-IN">
                          <a:latin typeface="Cambria Math" panose="02040503050406030204" pitchFamily="18" charset="0"/>
                        </a:rPr>
                        <m:t>=</m:t>
                      </m:r>
                      <m:r>
                        <a:rPr lang="en-IN" i="1">
                          <a:latin typeface="Cambria Math" panose="02040503050406030204" pitchFamily="18" charset="0"/>
                        </a:rPr>
                        <m:t>𝑄</m:t>
                      </m:r>
                      <m:r>
                        <a:rPr lang="en-IN">
                          <a:latin typeface="Cambria Math" panose="02040503050406030204" pitchFamily="18" charset="0"/>
                        </a:rPr>
                        <m:t>3−</m:t>
                      </m:r>
                      <m:r>
                        <a:rPr lang="en-IN" i="1">
                          <a:latin typeface="Cambria Math" panose="02040503050406030204" pitchFamily="18" charset="0"/>
                        </a:rPr>
                        <m:t>𝑄</m:t>
                      </m:r>
                      <m:r>
                        <a:rPr lang="en-IN">
                          <a:latin typeface="Cambria Math" panose="02040503050406030204" pitchFamily="18" charset="0"/>
                        </a:rPr>
                        <m:t>1</m:t>
                      </m:r>
                    </m:oMath>
                  </m:oMathPara>
                </a14:m>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Percentile</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𝑘</m:t>
                          </m:r>
                        </m:num>
                        <m:den>
                          <m:r>
                            <a:rPr lang="en-IN">
                              <a:latin typeface="Cambria Math" panose="02040503050406030204" pitchFamily="18" charset="0"/>
                            </a:rPr>
                            <m:t>100</m:t>
                          </m:r>
                        </m:den>
                      </m:f>
                      <m:d>
                        <m:dPr>
                          <m:ctrlPr>
                            <a:rPr lang="en-IN" i="1">
                              <a:latin typeface="Cambria Math" panose="02040503050406030204" pitchFamily="18" charset="0"/>
                            </a:rPr>
                          </m:ctrlPr>
                        </m:dPr>
                        <m:e>
                          <m:r>
                            <a:rPr lang="en-IN" i="1">
                              <a:latin typeface="Cambria Math" panose="02040503050406030204" pitchFamily="18" charset="0"/>
                            </a:rPr>
                            <m:t>𝑁</m:t>
                          </m:r>
                          <m:r>
                            <a:rPr lang="en-IN">
                              <a:latin typeface="Cambria Math" panose="02040503050406030204" pitchFamily="18" charset="0"/>
                            </a:rPr>
                            <m:t>+1</m:t>
                          </m:r>
                        </m:e>
                      </m:d>
                    </m:oMath>
                  </m:oMathPara>
                </a14:m>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8BFDF5C7-D78E-103D-1189-62B1AD72B016}"/>
                  </a:ext>
                </a:extLst>
              </p:cNvPr>
              <p:cNvSpPr txBox="1">
                <a:spLocks noRot="1" noChangeAspect="1" noMove="1" noResize="1" noEditPoints="1" noAdjustHandles="1" noChangeArrowheads="1" noChangeShapeType="1" noTextEdit="1"/>
              </p:cNvSpPr>
              <p:nvPr/>
            </p:nvSpPr>
            <p:spPr>
              <a:xfrm>
                <a:off x="1419726" y="0"/>
                <a:ext cx="9352547" cy="7237430"/>
              </a:xfrm>
              <a:prstGeom prst="rect">
                <a:avLst/>
              </a:prstGeom>
              <a:blipFill>
                <a:blip r:embed="rId2"/>
                <a:stretch>
                  <a:fillRect l="-1043" t="-674"/>
                </a:stretch>
              </a:blipFill>
            </p:spPr>
            <p:txBody>
              <a:bodyPr/>
              <a:lstStyle/>
              <a:p>
                <a:r>
                  <a:rPr lang="en-IN">
                    <a:noFill/>
                  </a:rPr>
                  <a:t> </a:t>
                </a:r>
              </a:p>
            </p:txBody>
          </p:sp>
        </mc:Fallback>
      </mc:AlternateContent>
    </p:spTree>
    <p:extLst>
      <p:ext uri="{BB962C8B-B14F-4D97-AF65-F5344CB8AC3E}">
        <p14:creationId xmlns:p14="http://schemas.microsoft.com/office/powerpoint/2010/main" val="3912760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607079-D551-80F8-E0D6-9F4F669D20A9}"/>
              </a:ext>
            </a:extLst>
          </p:cNvPr>
          <p:cNvSpPr txBox="1"/>
          <p:nvPr/>
        </p:nvSpPr>
        <p:spPr>
          <a:xfrm>
            <a:off x="1379620" y="0"/>
            <a:ext cx="9111917"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CONCLUSION &amp; FUTURE SCOPE</a:t>
            </a:r>
          </a:p>
        </p:txBody>
      </p:sp>
      <p:sp>
        <p:nvSpPr>
          <p:cNvPr id="3" name="TextBox 2">
            <a:extLst>
              <a:ext uri="{FF2B5EF4-FFF2-40B4-BE49-F238E27FC236}">
                <a16:creationId xmlns:a16="http://schemas.microsoft.com/office/drawing/2014/main" id="{C0195D29-A855-6F47-624C-130DF7AF79D8}"/>
              </a:ext>
            </a:extLst>
          </p:cNvPr>
          <p:cNvSpPr txBox="1"/>
          <p:nvPr/>
        </p:nvSpPr>
        <p:spPr>
          <a:xfrm>
            <a:off x="1331495" y="994611"/>
            <a:ext cx="8758989" cy="5614736"/>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E4FF439F-2EE2-4FB0-A502-2D06F48B2839}"/>
              </a:ext>
            </a:extLst>
          </p:cNvPr>
          <p:cNvSpPr txBox="1"/>
          <p:nvPr/>
        </p:nvSpPr>
        <p:spPr>
          <a:xfrm>
            <a:off x="1379620" y="769441"/>
            <a:ext cx="10170695" cy="637097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Conclusion</a:t>
            </a:r>
          </a:p>
          <a:p>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E-Commerce Customer Behaviour Analysis</a:t>
            </a:r>
            <a:r>
              <a:rPr lang="en-IN" sz="2400" dirty="0">
                <a:latin typeface="Times New Roman" panose="02020603050405020304" pitchFamily="18" charset="0"/>
                <a:cs typeface="Times New Roman" panose="02020603050405020304" pitchFamily="18" charset="0"/>
              </a:rPr>
              <a:t> project successfully applied CO-2 statistical concepts to analyse customer and product data. Measures such as </a:t>
            </a:r>
            <a:r>
              <a:rPr lang="en-IN" sz="2400" b="1" dirty="0">
                <a:latin typeface="Times New Roman" panose="02020603050405020304" pitchFamily="18" charset="0"/>
                <a:cs typeface="Times New Roman" panose="02020603050405020304" pitchFamily="18" charset="0"/>
              </a:rPr>
              <a:t>mean, median, mode, variance, standard deviation, range, quartiles, and percentiles</a:t>
            </a:r>
            <a:r>
              <a:rPr lang="en-IN" sz="2400" dirty="0">
                <a:latin typeface="Times New Roman" panose="02020603050405020304" pitchFamily="18" charset="0"/>
                <a:cs typeface="Times New Roman" panose="02020603050405020304" pitchFamily="18" charset="0"/>
              </a:rPr>
              <a:t> were used to understand data distribution and customer behaviour patterns. The analysis provided meaningful insights into product pricing and purchasing trends.</a:t>
            </a:r>
          </a:p>
          <a:p>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Future Scope</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Customer Segmentation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Product Recommendation System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Sales Forecasting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Customer Purchase Prediction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Machine Learning Applications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Business Intelligence Dashboards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Real-Time Customer Analytics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0135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2C3238-E611-F676-0E7E-E699489E6BE4}"/>
              </a:ext>
            </a:extLst>
          </p:cNvPr>
          <p:cNvSpPr txBox="1"/>
          <p:nvPr/>
        </p:nvSpPr>
        <p:spPr>
          <a:xfrm>
            <a:off x="2258007" y="2304661"/>
            <a:ext cx="9554547" cy="1569660"/>
          </a:xfrm>
          <a:prstGeom prst="rect">
            <a:avLst/>
          </a:prstGeom>
          <a:noFill/>
        </p:spPr>
        <p:txBody>
          <a:bodyPr wrap="square" rtlCol="0">
            <a:spAutoFit/>
          </a:bodyPr>
          <a:lstStyle/>
          <a:p>
            <a:r>
              <a:rPr lang="en-IN"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82763178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79702B-25C7-40D7-9E29-7686B11A96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43</TotalTime>
  <Words>840</Words>
  <Application>Microsoft Office PowerPoint</Application>
  <PresentationFormat>Widescreen</PresentationFormat>
  <Paragraphs>215</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Cambria Math</vt:lpstr>
      <vt:lpstr>Courier New</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mvijayalakshmi2007@outlook.com</dc:creator>
  <cp:lastModifiedBy>potlabathini shashanth</cp:lastModifiedBy>
  <cp:revision>4</cp:revision>
  <dcterms:created xsi:type="dcterms:W3CDTF">2026-06-04T02:55:48Z</dcterms:created>
  <dcterms:modified xsi:type="dcterms:W3CDTF">2026-06-04T09:58:22Z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